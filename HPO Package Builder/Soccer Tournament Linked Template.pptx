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70" d="100"/>
          <a:sy n="70" d="100"/>
        </p:scale>
        <p:origin x="1517" y="278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81830-4BF3-E441-835E-D441248A5DA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1711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2026-02-25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 xml:space="preserve"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2026-02-25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 xml:space="preserve"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2026-02-25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2026-02-25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2026-02-25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2026-02-25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E7F-37A9-9557-8D61-4AD60AB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3818D9-8B6D-18D2-D97D-76E3F1248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01" y="328139"/>
            <a:ext cx="3533179" cy="1877731"/>
          </a:xfrm>
          <a:prstGeom prst="rect">
            <a:avLst/>
          </a:prstGeom>
        </p:spPr>
      </p:pic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95D8CA-B0D0-C458-FEFD-DC5D5724A2C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47882BFA-1E83-791F-3725-F349EAF59B8E}"/>
              </a:ext>
            </a:extLst>
          </p:cNvPr>
          <p:cNvSpPr txBox="1">
            <a:spLocks/>
          </p:cNvSpPr>
          <p:nvPr/>
        </p:nvSpPr>
        <p:spPr>
          <a:xfrm>
            <a:off x="435864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  <a:latin typeface="Spectrum Sans Book" panose="02110004020202020204"/>
              </a:rPr>
              <a:t>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x/xx-xx/xx			Play-in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  <a:defRPr/>
            </a:pPr>
            <a:r>
              <a:rPr lang="en-US" sz="1200" dirty="0">
                <a:solidFill>
                  <a:srgbClr val="FFFFFF"/>
                </a:solidFill>
              </a:rPr>
              <a:t>xx/xx-xx/xx			Round 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ctrum Sans Book" panose="02110004020202020204"/>
              <a:ea typeface="+mn-ea"/>
              <a:cs typeface="+mn-cs"/>
            </a:endParaRPr>
          </a:p>
          <a:p>
            <a:pPr lvl="0" defTabSz="91440">
              <a:lnSpc>
                <a:spcPts val="1200"/>
              </a:lnSpc>
              <a:spcBef>
                <a:spcPts val="300"/>
              </a:spcBef>
              <a:defRPr/>
            </a:pPr>
            <a:r>
              <a:rPr lang="en-US" sz="1200" dirty="0">
                <a:solidFill>
                  <a:srgbClr val="FFFFFF"/>
                </a:solidFill>
              </a:rPr>
              <a:t>xx/xx-xx/xx			Round 2</a:t>
            </a:r>
          </a:p>
          <a:p>
            <a:pPr lvl="0" defTabSz="91440">
              <a:lnSpc>
                <a:spcPts val="1200"/>
              </a:lnSpc>
              <a:spcBef>
                <a:spcPts val="300"/>
              </a:spcBef>
              <a:defRPr/>
            </a:pPr>
            <a:r>
              <a:rPr lang="en-US" sz="1200" dirty="0">
                <a:solidFill>
                  <a:srgbClr val="FFFFFF"/>
                </a:solidFill>
              </a:rPr>
              <a:t>xx/xx-xx/xx			Round 3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  <a:defRPr/>
            </a:pPr>
            <a:r>
              <a:rPr lang="en-US" sz="1200" dirty="0">
                <a:solidFill>
                  <a:srgbClr val="FFFFFF"/>
                </a:solidFill>
              </a:rPr>
              <a:t>xx/xx-xx/xx			Semifinals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ctrum Sans Book" panose="02110004020202020204"/>
              <a:ea typeface="+mn-ea"/>
              <a:cs typeface="+mn-cs"/>
            </a:endParaRPr>
          </a:p>
          <a:p>
            <a:pPr lvl="0" defTabSz="91440">
              <a:lnSpc>
                <a:spcPts val="1200"/>
              </a:lnSpc>
              <a:spcBef>
                <a:spcPts val="300"/>
              </a:spcBef>
              <a:defRPr/>
            </a:pPr>
            <a:r>
              <a:rPr lang="en-US" sz="1200" dirty="0">
                <a:solidFill>
                  <a:srgbClr val="FFFFFF"/>
                </a:solidFill>
              </a:rPr>
              <a:t>xx/xx-xx/xx			Championship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0CB4CCB-060B-6322-2ADB-688F9EBDB648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30096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Generic Soccer Tournament</a:t>
            </a:r>
          </a:p>
        </p:txBody>
      </p:sp>
      <p:sp>
        <p:nvSpPr>
          <p:cNvPr id="50" name="BaseHdr"/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52" name="ConnLine"/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PlusBg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PlusTxt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5" name="Banner"/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PACKAGE</a:t>
            </a:r>
          </a:p>
        </p:txBody>
      </p:sp>
      <p:sp>
        <p:nvSpPr>
          <p:cNvPr id="56" name="BannerLine"/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OLine0"/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OHdr0"/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63" name="OLine1"/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OHdr1"/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66" name="OLine2"/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OHdr2"/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79DD07-DD90-5DD1-DFE3-A982248AE0BC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HPO Live In-Telecast | LA DMA Package Details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5FE097-835A-9FE3-09E0-9AEE97AC7E7D}"/>
              </a:ext>
            </a:extLst>
          </p:cNvPr>
          <p:cNvGrpSpPr/>
          <p:nvPr/>
        </p:nvGrpSpPr>
        <p:grpSpPr>
          <a:xfrm>
            <a:off x="9013746" y="898311"/>
            <a:ext cx="2086688" cy="1056386"/>
            <a:chOff x="8018143" y="2524141"/>
            <a:chExt cx="2086688" cy="105638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3A0411A-67DC-B71F-DD60-17BA03C3C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7631" y="3091377"/>
              <a:ext cx="45720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21" descr="A white letters on a black background  Description automatically generated">
              <a:extLst>
                <a:ext uri="{FF2B5EF4-FFF2-40B4-BE49-F238E27FC236}">
                  <a16:creationId xmlns:a16="http://schemas.microsoft.com/office/drawing/2014/main" id="{E8119267-9B3B-824F-BB46-92ECC5706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33894" y="2524141"/>
              <a:ext cx="640080" cy="51206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1FF5B21-C71F-55E5-085E-AAA0641A6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52927" y="2583631"/>
              <a:ext cx="640080" cy="384048"/>
            </a:xfrm>
            <a:prstGeom prst="rect">
              <a:avLst/>
            </a:prstGeom>
          </p:spPr>
        </p:pic>
        <p:pic>
          <p:nvPicPr>
            <p:cNvPr id="24" name="Picture 23" descr="A white logo with a black background  AI-generated content may be incorrect.">
              <a:extLst>
                <a:ext uri="{FF2B5EF4-FFF2-40B4-BE49-F238E27FC236}">
                  <a16:creationId xmlns:a16="http://schemas.microsoft.com/office/drawing/2014/main" id="{2B9549A7-1C36-7917-B56E-DE1F58DD1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32887" y="3063945"/>
              <a:ext cx="640080" cy="512064"/>
            </a:xfrm>
            <a:prstGeom prst="rect">
              <a:avLst/>
            </a:prstGeom>
          </p:spPr>
        </p:pic>
        <p:pic>
          <p:nvPicPr>
            <p:cNvPr id="25" name="Picture 24" descr="A white logo with a bird in the center  AI-generated content may be incorrect.">
              <a:extLst>
                <a:ext uri="{FF2B5EF4-FFF2-40B4-BE49-F238E27FC236}">
                  <a16:creationId xmlns:a16="http://schemas.microsoft.com/office/drawing/2014/main" id="{5C585006-9F90-D103-B6CD-C45279A37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18143" y="3068463"/>
              <a:ext cx="640080" cy="512064"/>
            </a:xfrm>
            <a:prstGeom prst="rect">
              <a:avLst/>
            </a:prstGeom>
          </p:spPr>
        </p:pic>
      </p:grpSp>
      <p:sp>
        <p:nvSpPr>
          <p:cNvPr id="200" name="live_date"/>
          <p:cNvSpPr txBox="1"/>
          <p:nvPr/>
        </p:nvSpPr>
        <p:spPr>
          <a:xfrm>
            <a:off x="597644" y="3467785"/>
            <a:ext cx="250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0" dirty="0">
                <a:solidFill>
                  <a:srgbClr val="B8CCE0"/>
                </a:solidFill>
              </a:rPr>
              <a:t>X/XX/XX – X/XX/XX</a:t>
            </a:r>
          </a:p>
        </p:txBody>
      </p:sp>
      <p:sp>
        <p:nvSpPr>
          <p:cNvPr id="201" name="live_cpm"/>
          <p:cNvSpPr txBox="1"/>
          <p:nvPr/>
        </p:nvSpPr>
        <p:spPr>
          <a:xfrm>
            <a:off x="597644" y="3697785"/>
            <a:ext cx="250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$XX CPM</a:t>
            </a:r>
          </a:p>
        </p:txBody>
      </p:sp>
      <p:sp>
        <p:nvSpPr>
          <p:cNvPr id="202" name="live_imps"/>
          <p:cNvSpPr txBox="1"/>
          <p:nvPr/>
        </p:nvSpPr>
        <p:spPr>
          <a:xfrm>
            <a:off x="597644" y="3957785"/>
            <a:ext cx="2500000" cy="23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XX,XXX Impressions</a:t>
            </a:r>
          </a:p>
        </p:txBody>
      </p:sp>
      <p:sp>
        <p:nvSpPr>
          <p:cNvPr id="300" name="opt1_date"/>
          <p:cNvSpPr txBox="1"/>
          <p:nvPr/>
        </p:nvSpPr>
        <p:spPr>
          <a:xfrm>
            <a:off x="3497644" y="373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</p:txBody>
      </p:sp>
      <p:sp>
        <p:nvSpPr>
          <p:cNvPr id="301" name="opt1_cpm"/>
          <p:cNvSpPr txBox="1"/>
          <p:nvPr/>
        </p:nvSpPr>
        <p:spPr>
          <a:xfrm>
            <a:off x="3497644" y="3927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$40 CPM</a:t>
            </a:r>
          </a:p>
        </p:txBody>
      </p:sp>
      <p:sp>
        <p:nvSpPr>
          <p:cNvPr id="302" name="opt1_imps"/>
          <p:cNvSpPr txBox="1"/>
          <p:nvPr/>
        </p:nvSpPr>
        <p:spPr>
          <a:xfrm>
            <a:off x="3497644" y="414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XX,XXX Imps</a:t>
            </a:r>
          </a:p>
        </p:txBody>
      </p:sp>
      <p:sp>
        <p:nvSpPr>
          <p:cNvPr id="303" name="opt1_desc"/>
          <p:cNvSpPr txBox="1"/>
          <p:nvPr/>
        </p:nvSpPr>
        <p:spPr>
          <a:xfrm>
            <a:off x="3497644" y="435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900" b="0" dirty="0">
                <a:solidFill>
                  <a:srgbClr val="B8CCE0"/>
                </a:solidFill>
              </a:rPr>
              <a:t>Targeted to XXX viewers in LA DMA</a:t>
            </a:r>
          </a:p>
        </p:txBody>
      </p:sp>
      <p:sp>
        <p:nvSpPr>
          <p:cNvPr id="304" name="opt1_pkg_total_imps"/>
          <p:cNvSpPr txBox="1"/>
          <p:nvPr/>
        </p:nvSpPr>
        <p:spPr>
          <a:xfrm>
            <a:off x="3497644" y="465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Total Imps: XX,XXX</a:t>
            </a:r>
          </a:p>
        </p:txBody>
      </p:sp>
      <p:sp>
        <p:nvSpPr>
          <p:cNvPr id="305" name="opt1_pkg_total_inv"/>
          <p:cNvSpPr txBox="1"/>
          <p:nvPr/>
        </p:nvSpPr>
        <p:spPr>
          <a:xfrm>
            <a:off x="3497644" y="4877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</p:txBody>
      </p:sp>
      <p:sp>
        <p:nvSpPr>
          <p:cNvPr id="306" name="opt1_pkg_ecpm"/>
          <p:cNvSpPr txBox="1"/>
          <p:nvPr/>
        </p:nvSpPr>
        <p:spPr>
          <a:xfrm>
            <a:off x="3497644" y="510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eCPM: $XX</a:t>
            </a:r>
          </a:p>
        </p:txBody>
      </p:sp>
      <p:sp>
        <p:nvSpPr>
          <p:cNvPr id="310" name="opt2_date"/>
          <p:cNvSpPr txBox="1"/>
          <p:nvPr/>
        </p:nvSpPr>
        <p:spPr>
          <a:xfrm>
            <a:off x="6049367" y="373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</p:txBody>
      </p:sp>
      <p:sp>
        <p:nvSpPr>
          <p:cNvPr id="311" name="opt2_cpm"/>
          <p:cNvSpPr txBox="1"/>
          <p:nvPr/>
        </p:nvSpPr>
        <p:spPr>
          <a:xfrm>
            <a:off x="6049367" y="3927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$35 CPM</a:t>
            </a:r>
          </a:p>
        </p:txBody>
      </p:sp>
      <p:sp>
        <p:nvSpPr>
          <p:cNvPr id="312" name="opt2_imps"/>
          <p:cNvSpPr txBox="1"/>
          <p:nvPr/>
        </p:nvSpPr>
        <p:spPr>
          <a:xfrm>
            <a:off x="6049367" y="414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XX,XXX Imps</a:t>
            </a:r>
          </a:p>
        </p:txBody>
      </p:sp>
      <p:sp>
        <p:nvSpPr>
          <p:cNvPr id="313" name="opt2_desc"/>
          <p:cNvSpPr txBox="1"/>
          <p:nvPr/>
        </p:nvSpPr>
        <p:spPr>
          <a:xfrm>
            <a:off x="6049367" y="435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900" b="0" dirty="0">
                <a:solidFill>
                  <a:srgbClr val="B8CCE0"/>
                </a:solidFill>
              </a:rPr>
              <a:t>Targeted to Sports Networks in LA DMA</a:t>
            </a:r>
          </a:p>
        </p:txBody>
      </p:sp>
      <p:sp>
        <p:nvSpPr>
          <p:cNvPr id="314" name="opt2_pkg_total_imps"/>
          <p:cNvSpPr txBox="1"/>
          <p:nvPr/>
        </p:nvSpPr>
        <p:spPr>
          <a:xfrm>
            <a:off x="6049367" y="465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Total Imps: XX,XXX</a:t>
            </a:r>
          </a:p>
        </p:txBody>
      </p:sp>
      <p:sp>
        <p:nvSpPr>
          <p:cNvPr id="315" name="opt2_pkg_total_inv"/>
          <p:cNvSpPr txBox="1"/>
          <p:nvPr/>
        </p:nvSpPr>
        <p:spPr>
          <a:xfrm>
            <a:off x="6049367" y="4877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</p:txBody>
      </p:sp>
      <p:sp>
        <p:nvSpPr>
          <p:cNvPr id="316" name="opt2_pkg_ecpm"/>
          <p:cNvSpPr txBox="1"/>
          <p:nvPr/>
        </p:nvSpPr>
        <p:spPr>
          <a:xfrm>
            <a:off x="6049367" y="510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eCPM: $XX</a:t>
            </a:r>
          </a:p>
        </p:txBody>
      </p:sp>
      <p:sp>
        <p:nvSpPr>
          <p:cNvPr id="320" name="opt3_date"/>
          <p:cNvSpPr txBox="1"/>
          <p:nvPr/>
        </p:nvSpPr>
        <p:spPr>
          <a:xfrm>
            <a:off x="8597973" y="373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</p:txBody>
      </p:sp>
      <p:sp>
        <p:nvSpPr>
          <p:cNvPr id="321" name="opt3_cpm"/>
          <p:cNvSpPr txBox="1"/>
          <p:nvPr/>
        </p:nvSpPr>
        <p:spPr>
          <a:xfrm>
            <a:off x="8597973" y="3927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$29 CPM</a:t>
            </a:r>
          </a:p>
        </p:txBody>
      </p:sp>
      <p:sp>
        <p:nvSpPr>
          <p:cNvPr id="322" name="opt3_imps"/>
          <p:cNvSpPr txBox="1"/>
          <p:nvPr/>
        </p:nvSpPr>
        <p:spPr>
          <a:xfrm>
            <a:off x="8597973" y="414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</a:rPr>
              <a:t>XX,XXX Imps</a:t>
            </a:r>
          </a:p>
        </p:txBody>
      </p:sp>
      <p:sp>
        <p:nvSpPr>
          <p:cNvPr id="323" name="opt3_desc"/>
          <p:cNvSpPr txBox="1"/>
          <p:nvPr/>
        </p:nvSpPr>
        <p:spPr>
          <a:xfrm>
            <a:off x="8597973" y="435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900" b="0" dirty="0">
                <a:solidFill>
                  <a:srgbClr val="B8CCE0"/>
                </a:solidFill>
              </a:rPr>
              <a:t>Targeted to Sports Audiences in LA DMA</a:t>
            </a:r>
          </a:p>
        </p:txBody>
      </p:sp>
      <p:sp>
        <p:nvSpPr>
          <p:cNvPr id="324" name="opt3_pkg_total_imps"/>
          <p:cNvSpPr txBox="1"/>
          <p:nvPr/>
        </p:nvSpPr>
        <p:spPr>
          <a:xfrm>
            <a:off x="8597973" y="465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Total Imps: XX,XXX</a:t>
            </a:r>
          </a:p>
        </p:txBody>
      </p:sp>
      <p:sp>
        <p:nvSpPr>
          <p:cNvPr id="325" name="opt3_pkg_total_inv"/>
          <p:cNvSpPr txBox="1"/>
          <p:nvPr/>
        </p:nvSpPr>
        <p:spPr>
          <a:xfrm>
            <a:off x="8597973" y="4877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</p:txBody>
      </p:sp>
      <p:sp>
        <p:nvSpPr>
          <p:cNvPr id="326" name="opt3_pkg_ecpm"/>
          <p:cNvSpPr txBox="1"/>
          <p:nvPr/>
        </p:nvSpPr>
        <p:spPr>
          <a:xfrm>
            <a:off x="8597973" y="5102785"/>
            <a:ext cx="2499616" cy="215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rIns="0" tIns="0" bIns="0"/>
          <a:lstStyle/>
          <a:p>
            <a:pPr algn="l"/>
            <a:r>
              <a:rPr lang="en-US" sz="1000" b="1" dirty="0">
                <a:solidFill>
                  <a:srgbClr val="7DD4FF"/>
                </a:solidFill>
              </a:rPr>
              <a:t>Package eCPM: $XX</a:t>
            </a:r>
          </a:p>
        </p:txBody>
      </p:sp>
    </p:spTree>
    <p:extLst>
      <p:ext uri="{BB962C8B-B14F-4D97-AF65-F5344CB8AC3E}">
        <p14:creationId xmlns:p14="http://schemas.microsoft.com/office/powerpoint/2010/main" val="3379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?>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4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4858</TotalTime>
  <Words>269</Words>
  <Application>Microsoft Office PowerPoint</Application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63</cp:revision>
  <dcterms:created xsi:type="dcterms:W3CDTF">2025-08-18T20:56:00Z</dcterms:created>
  <dcterms:modified xsi:type="dcterms:W3CDTF">2026-02-27T07:53:13Z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