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3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104" d="100"/>
          <a:sy n="104" d="100"/>
        </p:scale>
        <p:origin x="1098" y="114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arkman, Zach E" userId="a0fa8067-9197-4cb4-b572-088af4ff6e51" providerId="ADAL" clId="{E9825B4C-8972-4B1A-BBA8-02EAA15EB84D}"/>
    <pc:docChg chg="undo custSel modSld">
      <pc:chgData name="Sparkman, Zach E" userId="a0fa8067-9197-4cb4-b572-088af4ff6e51" providerId="ADAL" clId="{E9825B4C-8972-4B1A-BBA8-02EAA15EB84D}" dt="2026-03-11T03:34:33.213" v="2" actId="6549"/>
      <pc:docMkLst>
        <pc:docMk/>
      </pc:docMkLst>
      <pc:sldChg chg="addSp delSp modSp mod">
        <pc:chgData name="Sparkman, Zach E" userId="a0fa8067-9197-4cb4-b572-088af4ff6e51" providerId="ADAL" clId="{E9825B4C-8972-4B1A-BBA8-02EAA15EB84D}" dt="2026-03-11T03:34:33.213" v="2" actId="6549"/>
        <pc:sldMkLst>
          <pc:docMk/>
          <pc:sldMk cId="3307957599" sldId="2147473231"/>
        </pc:sldMkLst>
        <pc:spChg chg="add del mod">
          <ac:chgData name="Sparkman, Zach E" userId="a0fa8067-9197-4cb4-b572-088af4ff6e51" providerId="ADAL" clId="{E9825B4C-8972-4B1A-BBA8-02EAA15EB84D}" dt="2026-03-11T03:34:33.213" v="2" actId="6549"/>
          <ac:spMkLst>
            <pc:docMk/>
            <pc:sldMk cId="3307957599" sldId="2147473231"/>
            <ac:spMk id="9" creationId="{3E873A14-74D2-D731-52D1-BD9AFCD07DC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D41D-7213-C39E-42BB-91F58ED69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7A78BE7-F65E-9209-D575-14039C1C2DE6}"/>
              </a:ext>
            </a:extLst>
          </p:cNvPr>
          <p:cNvSpPr txBox="1">
            <a:spLocks/>
          </p:cNvSpPr>
          <p:nvPr/>
        </p:nvSpPr>
        <p:spPr>
          <a:xfrm>
            <a:off x="4206867" y="544323"/>
            <a:ext cx="3657600" cy="164592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228600" rIns="0" bIns="18288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">
              <a:spcBef>
                <a:spcPts val="300"/>
              </a:spcBef>
            </a:pPr>
            <a:r>
              <a:rPr lang="en-US" sz="1200">
                <a:solidFill>
                  <a:schemeClr val="tx1"/>
                </a:solidFill>
              </a:rPr>
              <a:t>03/05-03/17			World Baseball Classic</a:t>
            </a:r>
          </a:p>
          <a:p>
            <a:pPr defTabSz="91440">
              <a:spcBef>
                <a:spcPts val="300"/>
              </a:spcBef>
            </a:pPr>
            <a:r>
              <a:rPr lang="en-US" sz="1200">
                <a:solidFill>
                  <a:schemeClr val="tx1"/>
                </a:solidFill>
              </a:rPr>
              <a:t>03/25/26					Opening Night</a:t>
            </a:r>
          </a:p>
          <a:p>
            <a:pPr defTabSz="91440">
              <a:spcBef>
                <a:spcPts val="300"/>
              </a:spcBef>
            </a:pPr>
            <a:r>
              <a:rPr lang="en-US" sz="1200">
                <a:solidFill>
                  <a:schemeClr val="tx1"/>
                </a:solidFill>
              </a:rPr>
              <a:t>03/26/26					Opening Day</a:t>
            </a:r>
          </a:p>
          <a:p>
            <a:pPr defTabSz="91440">
              <a:spcBef>
                <a:spcPts val="300"/>
              </a:spcBef>
            </a:pPr>
            <a:r>
              <a:rPr lang="en-US" sz="1200">
                <a:solidFill>
                  <a:schemeClr val="tx1"/>
                </a:solidFill>
              </a:rPr>
              <a:t>07/14/26					All-Star Game (S/L)</a:t>
            </a:r>
          </a:p>
          <a:p>
            <a:pPr defTabSz="91440">
              <a:spcBef>
                <a:spcPts val="300"/>
              </a:spcBef>
            </a:pPr>
            <a:r>
              <a:rPr lang="en-US" sz="1200">
                <a:solidFill>
                  <a:schemeClr val="tx1"/>
                </a:solidFill>
              </a:rPr>
              <a:t>09/27/26					Regular Season Ends</a:t>
            </a:r>
          </a:p>
          <a:p>
            <a:pPr defTabSz="91440">
              <a:spcBef>
                <a:spcPts val="300"/>
              </a:spcBef>
            </a:pPr>
            <a:r>
              <a:rPr lang="en-US" sz="1200">
                <a:solidFill>
                  <a:schemeClr val="tx1"/>
                </a:solidFill>
              </a:rPr>
              <a:t>09/29/26					Postseason Begins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D3FE050-096D-748D-656E-A9ACBC9C5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33" y="326626"/>
            <a:ext cx="3529584" cy="1877731"/>
          </a:xfrm>
          <a:prstGeom prst="rect">
            <a:avLst/>
          </a:prstGeom>
        </p:spPr>
      </p:pic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A4B5D04E-1033-B757-DC4F-8037D03A4C97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E873A14-74D2-D731-52D1-BD9AFCD07DCA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endParaRPr lang="en-US" b="1" dirty="0">
              <a:solidFill>
                <a:srgbClr val="D5D5D5"/>
              </a:solidFill>
              <a:latin typeface="Spectrum Sans Bold" panose="0211000402020202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5EF354-5BCC-35A5-2C6A-0753073875E7}"/>
              </a:ext>
            </a:extLst>
          </p:cNvPr>
          <p:cNvGrpSpPr/>
          <p:nvPr/>
        </p:nvGrpSpPr>
        <p:grpSpPr>
          <a:xfrm>
            <a:off x="8561422" y="946362"/>
            <a:ext cx="2991336" cy="1059265"/>
            <a:chOff x="8561422" y="946362"/>
            <a:chExt cx="2991336" cy="105926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BD1170B-0EE1-616F-3325-9CD35B189B51}"/>
                </a:ext>
              </a:extLst>
            </p:cNvPr>
            <p:cNvGrpSpPr/>
            <p:nvPr/>
          </p:nvGrpSpPr>
          <p:grpSpPr>
            <a:xfrm>
              <a:off x="8561422" y="946362"/>
              <a:ext cx="2991336" cy="512064"/>
              <a:chOff x="10571544" y="0"/>
              <a:chExt cx="2991336" cy="512064"/>
            </a:xfrm>
          </p:grpSpPr>
          <p:pic>
            <p:nvPicPr>
              <p:cNvPr id="29" name="Picture 28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1CCA34B6-903B-F3D5-E9DE-3D90563562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30095" b="31753"/>
              <a:stretch/>
            </p:blipFill>
            <p:spPr>
              <a:xfrm>
                <a:off x="10571544" y="144397"/>
                <a:ext cx="731520" cy="223271"/>
              </a:xfrm>
              <a:prstGeom prst="rect">
                <a:avLst/>
              </a:prstGeom>
            </p:spPr>
          </p:pic>
          <p:pic>
            <p:nvPicPr>
              <p:cNvPr id="30" name="Picture 29" descr="A white text on a black background&#10;&#10;Description automatically generated">
                <a:extLst>
                  <a:ext uri="{FF2B5EF4-FFF2-40B4-BE49-F238E27FC236}">
                    <a16:creationId xmlns:a16="http://schemas.microsoft.com/office/drawing/2014/main" id="{FB628AB4-FA2C-8F95-4A11-49FC188CE7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35324" b="36659"/>
              <a:stretch/>
            </p:blipFill>
            <p:spPr>
              <a:xfrm>
                <a:off x="11413597" y="174051"/>
                <a:ext cx="731520" cy="163964"/>
              </a:xfrm>
              <a:prstGeom prst="rect">
                <a:avLst/>
              </a:prstGeom>
            </p:spPr>
          </p:pic>
          <p:pic>
            <p:nvPicPr>
              <p:cNvPr id="31" name="Picture 30" descr="A black and white logo&#10;&#10;Description automatically generated">
                <a:extLst>
                  <a:ext uri="{FF2B5EF4-FFF2-40B4-BE49-F238E27FC236}">
                    <a16:creationId xmlns:a16="http://schemas.microsoft.com/office/drawing/2014/main" id="{27880A99-C376-E728-9137-CECA7B478F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14240" y="32331"/>
                <a:ext cx="548640" cy="438912"/>
              </a:xfrm>
              <a:prstGeom prst="rect">
                <a:avLst/>
              </a:prstGeom>
            </p:spPr>
          </p:pic>
          <p:pic>
            <p:nvPicPr>
              <p:cNvPr id="32" name="Picture 31" descr="A white letters on a black background&#10;&#10;Description automatically generated">
                <a:extLst>
                  <a:ext uri="{FF2B5EF4-FFF2-40B4-BE49-F238E27FC236}">
                    <a16:creationId xmlns:a16="http://schemas.microsoft.com/office/drawing/2014/main" id="{6EFF87A6-3F0A-7733-0DA6-A9840D9475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62566" y="0"/>
                <a:ext cx="640080" cy="512064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59D1A9E-99A2-D8B9-D35D-6F1CE1CBA88A}"/>
                </a:ext>
              </a:extLst>
            </p:cNvPr>
            <p:cNvGrpSpPr/>
            <p:nvPr/>
          </p:nvGrpSpPr>
          <p:grpSpPr>
            <a:xfrm>
              <a:off x="8694599" y="1495119"/>
              <a:ext cx="2759454" cy="510508"/>
              <a:chOff x="11936166" y="537448"/>
              <a:chExt cx="2759454" cy="510508"/>
            </a:xfrm>
          </p:grpSpPr>
          <p:pic>
            <p:nvPicPr>
              <p:cNvPr id="21" name="Picture 20" descr="A black and white logo&#10;&#10;Description automatically generated">
                <a:extLst>
                  <a:ext uri="{FF2B5EF4-FFF2-40B4-BE49-F238E27FC236}">
                    <a16:creationId xmlns:a16="http://schemas.microsoft.com/office/drawing/2014/main" id="{9430158D-EBD1-4EBE-2FFE-3D4A3EBC2B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36166" y="569735"/>
                <a:ext cx="571500" cy="457200"/>
              </a:xfrm>
              <a:prstGeom prst="rect">
                <a:avLst/>
              </a:prstGeom>
            </p:spPr>
          </p:pic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2C94B8C-1A9F-7C8A-9BB0-CE499BC4A275}"/>
                  </a:ext>
                </a:extLst>
              </p:cNvPr>
              <p:cNvGrpSpPr/>
              <p:nvPr/>
            </p:nvGrpSpPr>
            <p:grpSpPr>
              <a:xfrm>
                <a:off x="12611119" y="537448"/>
                <a:ext cx="2084501" cy="510508"/>
                <a:chOff x="10846189" y="2950677"/>
                <a:chExt cx="2084501" cy="510508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B5338A73-F9BF-B9C3-820C-430AE8829501}"/>
                    </a:ext>
                  </a:extLst>
                </p:cNvPr>
                <p:cNvGrpSpPr/>
                <p:nvPr/>
              </p:nvGrpSpPr>
              <p:grpSpPr>
                <a:xfrm>
                  <a:off x="11596642" y="3037787"/>
                  <a:ext cx="1334048" cy="365760"/>
                  <a:chOff x="8957490" y="2948104"/>
                  <a:chExt cx="1334048" cy="365760"/>
                </a:xfrm>
              </p:grpSpPr>
              <p:pic>
                <p:nvPicPr>
                  <p:cNvPr id="26" name="Picture 25">
                    <a:extLst>
                      <a:ext uri="{FF2B5EF4-FFF2-40B4-BE49-F238E27FC236}">
                        <a16:creationId xmlns:a16="http://schemas.microsoft.com/office/drawing/2014/main" id="{B29F7CAA-209C-A8BF-E4D7-568C161C07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971498" y="2970964"/>
                    <a:ext cx="320040" cy="320040"/>
                  </a:xfrm>
                  <a:prstGeom prst="rect">
                    <a:avLst/>
                  </a:prstGeo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</p:pic>
              <p:pic>
                <p:nvPicPr>
                  <p:cNvPr id="27" name="Picture 26" descr="A red and white logo&#10;&#10;Description automatically generated">
                    <a:extLst>
                      <a:ext uri="{FF2B5EF4-FFF2-40B4-BE49-F238E27FC236}">
                        <a16:creationId xmlns:a16="http://schemas.microsoft.com/office/drawing/2014/main" id="{50CE03FB-330A-5761-02A4-5FE0BD0788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9535919" y="2968376"/>
                    <a:ext cx="319351" cy="320040"/>
                  </a:xfrm>
                  <a:prstGeom prst="rect">
                    <a:avLst/>
                  </a:prstGeom>
                </p:spPr>
              </p:pic>
              <p:pic>
                <p:nvPicPr>
                  <p:cNvPr id="28" name="Picture 27">
                    <a:extLst>
                      <a:ext uri="{FF2B5EF4-FFF2-40B4-BE49-F238E27FC236}">
                        <a16:creationId xmlns:a16="http://schemas.microsoft.com/office/drawing/2014/main" id="{009C801E-8621-2808-6C5C-B34554FB6A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8957490" y="2948104"/>
                    <a:ext cx="457200" cy="36576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ECAA6F42-8082-4E93-1AAE-FFBC47A04C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46189" y="2950677"/>
                  <a:ext cx="640080" cy="510508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2E8775AF-476E-91EB-8E08-B16321D8DDA2}"/>
              </a:ext>
            </a:extLst>
          </p:cNvPr>
          <p:cNvSpPr txBox="1">
            <a:spLocks/>
          </p:cNvSpPr>
          <p:nvPr/>
        </p:nvSpPr>
        <p:spPr>
          <a:xfrm>
            <a:off x="308484" y="338889"/>
            <a:ext cx="3529584" cy="1856232"/>
          </a:xfrm>
          <a:prstGeom prst="roundRect">
            <a:avLst>
              <a:gd name="adj" fmla="val 5698"/>
            </a:avLst>
          </a:prstGeom>
          <a:gradFill>
            <a:gsLst>
              <a:gs pos="0">
                <a:schemeClr val="accent1">
                  <a:lumMod val="100000"/>
                  <a:alpha val="60000"/>
                </a:schemeClr>
              </a:gs>
              <a:gs pos="100000">
                <a:schemeClr val="accent2">
                  <a:lumMod val="100000"/>
                  <a:alpha val="60000"/>
                </a:schemeClr>
              </a:gs>
            </a:gsLst>
            <a:lin ang="2700000" scaled="0"/>
          </a:gra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182880" tIns="91440" rIns="182880" bIns="9144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00" b="0" i="0" kern="1200">
                <a:noFill/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ea typeface="+mn-ea"/>
              <a:cs typeface="Spectrum Sans Book" panose="020B04020205030203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D5D5D5"/>
                </a:solidFill>
                <a:effectLst>
                  <a:outerShdw blurRad="63500" dist="38100" dir="2700000" algn="tl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Spectrum Sans Bold" panose="02110004020202020204"/>
                <a:ea typeface="+mn-ea"/>
                <a:cs typeface="Spectrum Sans Book" panose="020B0402020503020304" pitchFamily="34" charset="0"/>
              </a:rPr>
              <a:t>MLB Regular Season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D5D5D5"/>
              </a:solidFill>
              <a:effectLst>
                <a:outerShdw blurRad="63500" dist="38100" dir="2700000" algn="tl">
                  <a:srgbClr val="000000">
                    <a:alpha val="40000"/>
                  </a:srgbClr>
                </a:outerShdw>
              </a:effectLst>
              <a:uLnTx/>
              <a:uFillTx/>
              <a:latin typeface="Spectrum Sans Bold" panose="02110004020202020204"/>
              <a:ea typeface="+mn-ea"/>
              <a:cs typeface="Spectrum Sans Book" panose="020B04020205030203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E89250-C548-707A-3E41-3D78CC56FC2E}"/>
              </a:ext>
            </a:extLst>
          </p:cNvPr>
          <p:cNvSpPr/>
          <p:nvPr/>
        </p:nvSpPr>
        <p:spPr>
          <a:xfrm>
            <a:off x="12353407" y="416806"/>
            <a:ext cx="2057240" cy="6024388"/>
          </a:xfrm>
          <a:prstGeom prst="rect">
            <a:avLst/>
          </a:prstGeom>
          <a:solidFill>
            <a:srgbClr val="FE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" tIns="144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71EB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Customizable Package Slide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Many of these sections are modular. Please use this as your canvas to build a campaign package to fit your market or client needs, while maintaining the brand integrity and aesthetics.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Change Title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Key Dates.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Edit/Add Network Logos.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Your Client Goals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(this section can be expanded or moved).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Add Campaign Package Details and/or Summary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for “In-Telecast”, “Multiscreen”, “Traditional TV”, or other…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Don’t need so much space for your package?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Check out the other Template on MSR’s Programming Page.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Remove Client Signature Line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(if unnecessary).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Raleway" charset="0"/>
                <a:cs typeface="Raleway" charset="0"/>
              </a:rPr>
              <a:t>Quality Control: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From a brand perspective, please keep font, font size, font colors, aesthetics, and spacing consistent with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the rest of the slide.</a:t>
            </a:r>
          </a:p>
          <a:p>
            <a:pPr marL="1828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Delete this Box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139"/>
                </a:solidFill>
                <a:effectLst/>
                <a:uLnTx/>
                <a:uFillTx/>
                <a:latin typeface="Spectrum Sans Book" panose="02110004020202020204"/>
                <a:ea typeface="+mn-ea"/>
                <a:cs typeface="+mn-cs"/>
              </a:rPr>
              <a:t>before presenting or sending to client. Best practice would be to create as a PDF instead of sending as a PPT.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2139"/>
              </a:solidFill>
              <a:effectLst/>
              <a:uLnTx/>
              <a:uFillTx/>
              <a:latin typeface="Spectrum Sans Book" panose="02110004020202020204"/>
              <a:ea typeface="Raleway" charset="0"/>
              <a:cs typeface="Raleway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5A64-466B-2BF9-86F0-23084514F09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677532" y="6491338"/>
            <a:ext cx="2729478" cy="207565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6AD0D35-3D4C-0FD6-4B15-589366C1A2D3}"/>
              </a:ext>
            </a:extLst>
          </p:cNvPr>
          <p:cNvSpPr txBox="1">
            <a:spLocks/>
          </p:cNvSpPr>
          <p:nvPr/>
        </p:nvSpPr>
        <p:spPr>
          <a:xfrm>
            <a:off x="4205116" y="338639"/>
            <a:ext cx="2468880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14313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032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810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758825" indent="-1778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5810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tx2"/>
                </a:solidFill>
                <a:latin typeface="+mj-lt"/>
              </a:rPr>
              <a:t>Key Dates</a:t>
            </a:r>
          </a:p>
        </p:txBody>
      </p:sp>
    </p:spTree>
    <p:extLst>
      <p:ext uri="{BB962C8B-B14F-4D97-AF65-F5344CB8AC3E}">
        <p14:creationId xmlns:p14="http://schemas.microsoft.com/office/powerpoint/2010/main" val="33079575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/>
</file>

<file path=customXml/item3.xml><?xml version="1.0" encoding="utf-8"?>
<?mso-contentType ?>
<spe:Receivers xmlns:spe="http://schemas.microsoft.com/sharepoint/event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Props1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2043</TotalTime>
  <Words>252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Sparkman, Zach E</cp:lastModifiedBy>
  <cp:revision>63</cp:revision>
  <dcterms:created xsi:type="dcterms:W3CDTF">2025-08-18T20:56:00Z</dcterms:created>
  <dcterms:modified xsi:type="dcterms:W3CDTF">2026-03-11T03:34:37Z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