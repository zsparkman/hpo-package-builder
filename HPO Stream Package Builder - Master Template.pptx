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9" r:id="rId5"/>
    <p:sldMasterId id="2147483899" r:id="rId6"/>
    <p:sldMasterId id="2147483928" r:id="rId7"/>
    <p:sldMasterId id="2147483930" r:id="rId8"/>
  </p:sldMasterIdLst>
  <p:notesMasterIdLst>
    <p:notesMasterId r:id="rId10"/>
  </p:notesMasterIdLst>
  <p:handoutMasterIdLst>
    <p:handoutMasterId r:id="rId11"/>
  </p:handoutMasterIdLst>
  <p:sldIdLst>
    <p:sldId id="214747322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968" userDrawn="1">
          <p15:clr>
            <a:srgbClr val="A4A3A4"/>
          </p15:clr>
        </p15:guide>
        <p15:guide id="4" pos="35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859B"/>
    <a:srgbClr val="EEEEEE"/>
    <a:srgbClr val="F2F2F2"/>
    <a:srgbClr val="627C8F"/>
    <a:srgbClr val="546A7A"/>
    <a:srgbClr val="445663"/>
    <a:srgbClr val="003053"/>
    <a:srgbClr val="003760"/>
    <a:srgbClr val="002E50"/>
    <a:srgbClr val="001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7" autoAdjust="0"/>
    <p:restoredTop sz="94610"/>
  </p:normalViewPr>
  <p:slideViewPr>
    <p:cSldViewPr snapToGrid="0">
      <p:cViewPr>
        <p:scale>
          <a:sx n="75" d="100"/>
          <a:sy n="75" d="100"/>
        </p:scale>
        <p:origin x="616" y="36"/>
      </p:cViewPr>
      <p:guideLst>
        <p:guide orient="horz" pos="1968"/>
        <p:guide pos="35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>
        <p:scale>
          <a:sx n="1" d="2"/>
          <a:sy n="1" d="2"/>
        </p:scale>
        <p:origin x="4112" y="14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BECD9-9A0D-FB46-26DC-1E4169CFAC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88310-5E3D-00B7-3F50-68DB60336D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EEBFE-8A87-DC4B-83D1-64E9257E4E50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8124D-BB00-0A8E-96BF-14D7E56F4F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7B043-95BE-1693-E733-F8CEF139EB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766071-78C0-6649-9C9A-D7E8960ECB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61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A9494-7432-4242-91E8-82B2FB80EE9E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81830-4BF3-E441-835E-D441248A5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93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81830-4BF3-E441-835E-D441248A5DA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17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2026-03-24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62593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2026-03-24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228555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15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8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80" userDrawn="1">
          <p15:clr>
            <a:srgbClr val="F26B43"/>
          </p15:clr>
        </p15:guide>
        <p15:guide id="4" pos="352" userDrawn="1">
          <p15:clr>
            <a:srgbClr val="F26B43"/>
          </p15:clr>
        </p15:guide>
        <p15:guide id="5" pos="7328" userDrawn="1">
          <p15:clr>
            <a:srgbClr val="F26B43"/>
          </p15:clr>
        </p15:guide>
        <p15:guide id="6" orient="horz" pos="824" userDrawn="1">
          <p15:clr>
            <a:srgbClr val="F26B43"/>
          </p15:clr>
        </p15:guide>
        <p15:guide id="7" orient="horz" pos="912" userDrawn="1">
          <p15:clr>
            <a:srgbClr val="F26B43"/>
          </p15:clr>
        </p15:guide>
        <p15:guide id="8" orient="horz" pos="3952" userDrawn="1">
          <p15:clr>
            <a:srgbClr val="F26B43"/>
          </p15:clr>
        </p15:guide>
        <p15:guide id="9" orient="horz" pos="3864" userDrawn="1">
          <p15:clr>
            <a:srgbClr val="F26B43"/>
          </p15:clr>
        </p15:guide>
        <p15:guide id="10" orient="horz" pos="41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888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905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9120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9AE7F-37A9-9557-8D61-4AD60AB6B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BB95D8CA-B0D0-C458-FEFD-DC5D5724A2C0}"/>
              </a:ext>
            </a:extLst>
          </p:cNvPr>
          <p:cNvSpPr txBox="1">
            <a:spLocks/>
          </p:cNvSpPr>
          <p:nvPr/>
        </p:nvSpPr>
        <p:spPr>
          <a:xfrm>
            <a:off x="305401" y="6145461"/>
            <a:ext cx="10297915" cy="64008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Open Sans" panose="020B0606030504020204" pitchFamily="34" charset="0"/>
                <a:cs typeface="Open Sans" panose="020B0606030504020204" pitchFamily="34" charset="0"/>
              </a:rPr>
              <a:t>Schedule subject to change. Network insertion may vary by market and is based on inventory availability.</a:t>
            </a:r>
          </a:p>
        </p:txBody>
      </p:sp>
      <p:sp>
        <p:nvSpPr>
          <p:cNvPr id="50" name="BaseHdr"/>
          <p:cNvSpPr txBox="1"/>
          <p:nvPr/>
        </p:nvSpPr>
        <p:spPr>
          <a:xfrm>
            <a:off x="597644" y="3087785"/>
            <a:ext cx="2500000" cy="380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 wrap="square" lIns="160000" tIns="80000" rIns="120000" bIns="8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200" b="1" dirty="0">
                <a:solidFill>
                  <a:srgbClr val="FFFFFF"/>
                </a:solidFill>
              </a:rPr>
              <a:t>LIVE IN-TELECAST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Base Buy</a:t>
            </a:r>
          </a:p>
        </p:txBody>
      </p:sp>
      <p:sp>
        <p:nvSpPr>
          <p:cNvPr id="51" name="BaseBody"/>
          <p:cNvSpPr txBox="1"/>
          <p:nvPr/>
        </p:nvSpPr>
        <p:spPr>
          <a:xfrm>
            <a:off x="597644" y="3467785"/>
            <a:ext cx="2500000" cy="2662954"/>
          </a:xfrm>
          <a:prstGeom prst="rect">
            <a:avLst/>
          </a:prstGeom>
          <a:solidFill>
            <a:srgbClr val="01315E"/>
          </a:solidFill>
          <a:ln>
            <a:noFill/>
          </a:ln>
        </p:spPr>
        <p:txBody>
          <a:bodyPr wrap="square" lIns="160000" tIns="110000" rIns="120000" bIns="6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000" b="0" dirty="0">
                <a:solidFill>
                  <a:srgbClr val="B8CCE0"/>
                </a:solidFill>
              </a:rPr>
              <a:t>X/XX/XX – X/XX/XX</a:t>
            </a:r>
          </a:p>
          <a:p>
            <a:pPr>
              <a:lnSpc>
                <a:spcPct val="115000"/>
              </a:lnSpc>
            </a:pPr>
            <a:r>
              <a:rPr lang="en-US" sz="1200" b="1" dirty="0">
                <a:solidFill>
                  <a:srgbClr val="FFFFFF"/>
                </a:solidFill>
              </a:rPr>
              <a:t>$XX CPM</a:t>
            </a:r>
          </a:p>
          <a:p>
            <a:pPr>
              <a:lnSpc>
                <a:spcPct val="115000"/>
              </a:lnSpc>
            </a:pPr>
            <a:r>
              <a:rPr lang="en-US" sz="1200" b="1" dirty="0">
                <a:solidFill>
                  <a:srgbClr val="FFFFFF"/>
                </a:solidFill>
              </a:rPr>
              <a:t>XXX,XXX Impressions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000" b="0" dirty="0">
                <a:solidFill>
                  <a:srgbClr val="B8CCE0"/>
                </a:solidFill>
              </a:rPr>
              <a:t>Delivered live in-telecast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000" b="0" dirty="0">
                <a:solidFill>
                  <a:srgbClr val="B8CCE0"/>
                </a:solidFill>
              </a:rPr>
              <a:t>during XXX broadcasts</a:t>
            </a:r>
          </a:p>
        </p:txBody>
      </p:sp>
      <p:sp>
        <p:nvSpPr>
          <p:cNvPr id="52" name="ConnLine"/>
          <p:cNvSpPr txBox="1"/>
          <p:nvPr/>
        </p:nvSpPr>
        <p:spPr>
          <a:xfrm>
            <a:off x="3097644" y="4739762"/>
            <a:ext cx="400000" cy="24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" name="PlusBg"/>
          <p:cNvSpPr txBox="1"/>
          <p:nvPr/>
        </p:nvSpPr>
        <p:spPr>
          <a:xfrm>
            <a:off x="3127644" y="4581762"/>
            <a:ext cx="340000" cy="340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4" name="PlusTxt"/>
          <p:cNvSpPr txBox="1"/>
          <p:nvPr/>
        </p:nvSpPr>
        <p:spPr>
          <a:xfrm>
            <a:off x="3127644" y="4581762"/>
            <a:ext cx="340000" cy="340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lang="en-US" sz="2600" b="1" dirty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55" name="Banner"/>
          <p:cNvSpPr txBox="1"/>
          <p:nvPr/>
        </p:nvSpPr>
        <p:spPr>
          <a:xfrm>
            <a:off x="3497644" y="3087785"/>
            <a:ext cx="7608848" cy="240000"/>
          </a:xfrm>
          <a:prstGeom prst="rect">
            <a:avLst/>
          </a:prstGeom>
          <a:solidFill>
            <a:srgbClr val="012D55"/>
          </a:solidFill>
          <a:ln>
            <a:noFill/>
          </a:ln>
        </p:spPr>
        <p:txBody>
          <a:bodyPr wrap="square" lIns="120000" tIns="50000" rIns="120000" bIns="50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lang="en-US" sz="980" b="1" dirty="0">
                <a:solidFill>
                  <a:srgbClr val="7DD4FF"/>
                </a:solidFill>
              </a:rPr>
              <a:t>+ ADD ONE SUPPORT </a:t>
            </a:r>
            <a:r>
              <a:rPr lang="en-US" sz="1000" b="1" dirty="0">
                <a:solidFill>
                  <a:srgbClr val="7DD4FF"/>
                </a:solidFill>
              </a:rPr>
              <a:t>PACKAGE</a:t>
            </a:r>
          </a:p>
        </p:txBody>
      </p:sp>
      <p:sp>
        <p:nvSpPr>
          <p:cNvPr id="56" name="BannerLine"/>
          <p:cNvSpPr txBox="1"/>
          <p:nvPr/>
        </p:nvSpPr>
        <p:spPr>
          <a:xfrm>
            <a:off x="3497644" y="3327785"/>
            <a:ext cx="7608848" cy="14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0" name="OLine0"/>
          <p:cNvSpPr txBox="1"/>
          <p:nvPr/>
        </p:nvSpPr>
        <p:spPr>
          <a:xfrm>
            <a:off x="3497644" y="3372785"/>
            <a:ext cx="2499616" cy="16000"/>
          </a:xfrm>
          <a:prstGeom prst="rect">
            <a:avLst/>
          </a:prstGeom>
          <a:solidFill>
            <a:srgbClr val="025FA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OHdr0"/>
          <p:cNvSpPr txBox="1"/>
          <p:nvPr/>
        </p:nvSpPr>
        <p:spPr>
          <a:xfrm>
            <a:off x="3497644" y="3388785"/>
            <a:ext cx="2499616" cy="344000"/>
          </a:xfrm>
          <a:prstGeom prst="rect">
            <a:avLst/>
          </a:prstGeom>
          <a:solidFill>
            <a:srgbClr val="025FA8"/>
          </a:solidFill>
          <a:ln>
            <a:noFill/>
          </a:ln>
        </p:spPr>
        <p:txBody>
          <a:bodyPr wrap="square" lIns="150000" tIns="70000" rIns="120000" bIns="7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100" b="1" dirty="0">
                <a:solidFill>
                  <a:srgbClr val="FFFFFF"/>
                </a:solidFill>
              </a:rPr>
              <a:t>OPTION 1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Addressable Targeting</a:t>
            </a:r>
          </a:p>
        </p:txBody>
      </p:sp>
      <p:sp>
        <p:nvSpPr>
          <p:cNvPr id="62" name="OBody0"/>
          <p:cNvSpPr txBox="1"/>
          <p:nvPr/>
        </p:nvSpPr>
        <p:spPr>
          <a:xfrm>
            <a:off x="3497644" y="3732785"/>
            <a:ext cx="2499616" cy="2397954"/>
          </a:xfrm>
          <a:prstGeom prst="rect">
            <a:avLst/>
          </a:prstGeom>
          <a:solidFill>
            <a:srgbClr val="02294D"/>
          </a:solidFill>
          <a:ln>
            <a:noFill/>
          </a:ln>
        </p:spPr>
        <p:txBody>
          <a:bodyPr wrap="square" lIns="150000" tIns="100000" rIns="120000" bIns="6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X/XX/XX – X/XX/XX</a:t>
            </a:r>
          </a:p>
          <a:p>
            <a:pPr algn="l"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$40 CPM</a:t>
            </a:r>
          </a:p>
          <a:p>
            <a:pPr algn="l"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XXX,XXX Imps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Targeted to XXX viewers in XXX DMA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endParaRPr lang="en-US" sz="850" dirty="0">
              <a:solidFill>
                <a:srgbClr val="B8CCE0"/>
              </a:solidFill>
            </a:endParaRPr>
          </a:p>
          <a:p>
            <a:pPr algn="l"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Imps: XXX,XXX</a:t>
            </a:r>
          </a:p>
          <a:p>
            <a:pPr algn="l"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Investment: $XX,XXX</a:t>
            </a:r>
          </a:p>
          <a:p>
            <a:pPr algn="l"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</a:t>
            </a:r>
            <a:r>
              <a:rPr lang="en-US" sz="1000" b="1" dirty="0" err="1">
                <a:solidFill>
                  <a:srgbClr val="7DD4FF"/>
                </a:solidFill>
              </a:rPr>
              <a:t>eCPM</a:t>
            </a:r>
            <a:r>
              <a:rPr lang="en-US" sz="1000" b="1" dirty="0">
                <a:solidFill>
                  <a:srgbClr val="7DD4FF"/>
                </a:solidFill>
              </a:rPr>
              <a:t>: $XX</a:t>
            </a:r>
          </a:p>
        </p:txBody>
      </p:sp>
      <p:sp>
        <p:nvSpPr>
          <p:cNvPr id="63" name="OLine1"/>
          <p:cNvSpPr txBox="1"/>
          <p:nvPr/>
        </p:nvSpPr>
        <p:spPr>
          <a:xfrm>
            <a:off x="6052260" y="3372785"/>
            <a:ext cx="2499616" cy="16000"/>
          </a:xfrm>
          <a:prstGeom prst="rect">
            <a:avLst/>
          </a:prstGeom>
          <a:solidFill>
            <a:srgbClr val="014F8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4" name="OHdr1"/>
          <p:cNvSpPr txBox="1"/>
          <p:nvPr/>
        </p:nvSpPr>
        <p:spPr>
          <a:xfrm>
            <a:off x="6052260" y="3388785"/>
            <a:ext cx="2499616" cy="344000"/>
          </a:xfrm>
          <a:prstGeom prst="rect">
            <a:avLst/>
          </a:prstGeom>
          <a:solidFill>
            <a:srgbClr val="014F8C"/>
          </a:solidFill>
          <a:ln>
            <a:noFill/>
          </a:ln>
        </p:spPr>
        <p:txBody>
          <a:bodyPr wrap="square" lIns="150000" tIns="70000" rIns="120000" bIns="7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100" b="1" dirty="0">
                <a:solidFill>
                  <a:srgbClr val="FFFFFF"/>
                </a:solidFill>
              </a:rPr>
              <a:t>OPTION 2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Custom Networks Targeting</a:t>
            </a:r>
          </a:p>
        </p:txBody>
      </p:sp>
      <p:sp>
        <p:nvSpPr>
          <p:cNvPr id="66" name="OLine2"/>
          <p:cNvSpPr txBox="1"/>
          <p:nvPr/>
        </p:nvSpPr>
        <p:spPr>
          <a:xfrm>
            <a:off x="8606876" y="3372785"/>
            <a:ext cx="2499616" cy="16000"/>
          </a:xfrm>
          <a:prstGeom prst="rect">
            <a:avLst/>
          </a:prstGeom>
          <a:solidFill>
            <a:srgbClr val="013A6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7" name="OHdr2"/>
          <p:cNvSpPr txBox="1"/>
          <p:nvPr/>
        </p:nvSpPr>
        <p:spPr>
          <a:xfrm>
            <a:off x="8606876" y="3388785"/>
            <a:ext cx="2499616" cy="344000"/>
          </a:xfrm>
          <a:prstGeom prst="rect">
            <a:avLst/>
          </a:prstGeom>
          <a:solidFill>
            <a:srgbClr val="013A68"/>
          </a:solidFill>
          <a:ln>
            <a:noFill/>
          </a:ln>
        </p:spPr>
        <p:txBody>
          <a:bodyPr wrap="square" lIns="150000" tIns="70000" rIns="120000" bIns="7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100" b="1" dirty="0">
                <a:solidFill>
                  <a:srgbClr val="FFFFFF"/>
                </a:solidFill>
              </a:rPr>
              <a:t>OPTION 3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880" b="0" dirty="0">
                <a:solidFill>
                  <a:srgbClr val="B8CCE0"/>
                </a:solidFill>
              </a:rPr>
              <a:t>Audience Targeting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379DD07-DD90-5DD1-DFE3-A982248AE0BC}"/>
              </a:ext>
            </a:extLst>
          </p:cNvPr>
          <p:cNvSpPr txBox="1">
            <a:spLocks/>
          </p:cNvSpPr>
          <p:nvPr/>
        </p:nvSpPr>
        <p:spPr>
          <a:xfrm>
            <a:off x="3066473" y="2520413"/>
            <a:ext cx="881941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pPr lvl="0">
              <a:defRPr/>
            </a:pPr>
            <a:r>
              <a:rPr lang="en-US" b="1" dirty="0">
                <a:solidFill>
                  <a:srgbClr val="D5D5D5"/>
                </a:solidFill>
                <a:latin typeface="Spectrum Sans Bold" panose="02110004020202020204"/>
              </a:rPr>
              <a:t>XXX DMA</a:t>
            </a:r>
          </a:p>
        </p:txBody>
      </p:sp>
      <p:sp>
        <p:nvSpPr>
          <p:cNvPr id="11" name="OBody0">
            <a:extLst>
              <a:ext uri="{FF2B5EF4-FFF2-40B4-BE49-F238E27FC236}">
                <a16:creationId xmlns:a16="http://schemas.microsoft.com/office/drawing/2014/main" id="{45B45387-5986-BCC9-C2EE-1FF79B99024D}"/>
              </a:ext>
            </a:extLst>
          </p:cNvPr>
          <p:cNvSpPr txBox="1"/>
          <p:nvPr/>
        </p:nvSpPr>
        <p:spPr>
          <a:xfrm>
            <a:off x="6049367" y="3757507"/>
            <a:ext cx="2499616" cy="2397954"/>
          </a:xfrm>
          <a:prstGeom prst="rect">
            <a:avLst/>
          </a:prstGeom>
          <a:solidFill>
            <a:srgbClr val="02294D"/>
          </a:solidFill>
          <a:ln>
            <a:noFill/>
          </a:ln>
        </p:spPr>
        <p:txBody>
          <a:bodyPr wrap="square" lIns="150000" tIns="100000" rIns="120000" bIns="6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X/XX/XX – X/XX/XX</a:t>
            </a:r>
          </a:p>
          <a:p>
            <a:pPr algn="l"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$35 CPM</a:t>
            </a:r>
          </a:p>
          <a:p>
            <a:pPr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XXX,XXX Imps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B8CCE0"/>
                </a:solidFill>
              </a:rPr>
              <a:t>Targeted to Sports Networks in XXX DMA</a:t>
            </a:r>
          </a:p>
          <a:p>
            <a:pPr>
              <a:lnSpc>
                <a:spcPct val="115000"/>
              </a:lnSpc>
            </a:pPr>
            <a:endParaRPr lang="en-US" sz="850" dirty="0">
              <a:solidFill>
                <a:srgbClr val="B8CCE0"/>
              </a:solidFill>
            </a:endParaRP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Imps: XXX,XXX</a:t>
            </a: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Investment: $XX,XXX</a:t>
            </a: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</a:t>
            </a:r>
            <a:r>
              <a:rPr lang="en-US" sz="1000" b="1" dirty="0" err="1">
                <a:solidFill>
                  <a:srgbClr val="7DD4FF"/>
                </a:solidFill>
              </a:rPr>
              <a:t>eCPM</a:t>
            </a:r>
            <a:r>
              <a:rPr lang="en-US" sz="1000" b="1" dirty="0">
                <a:solidFill>
                  <a:srgbClr val="7DD4FF"/>
                </a:solidFill>
              </a:rPr>
              <a:t>: $XX</a:t>
            </a:r>
          </a:p>
        </p:txBody>
      </p:sp>
      <p:sp>
        <p:nvSpPr>
          <p:cNvPr id="12" name="OBody0">
            <a:extLst>
              <a:ext uri="{FF2B5EF4-FFF2-40B4-BE49-F238E27FC236}">
                <a16:creationId xmlns:a16="http://schemas.microsoft.com/office/drawing/2014/main" id="{DC5DB346-8A56-8A62-8BC8-82D745D4EF3B}"/>
              </a:ext>
            </a:extLst>
          </p:cNvPr>
          <p:cNvSpPr txBox="1"/>
          <p:nvPr/>
        </p:nvSpPr>
        <p:spPr>
          <a:xfrm>
            <a:off x="8597973" y="3757507"/>
            <a:ext cx="2499616" cy="2397954"/>
          </a:xfrm>
          <a:prstGeom prst="rect">
            <a:avLst/>
          </a:prstGeom>
          <a:solidFill>
            <a:srgbClr val="02294D"/>
          </a:solidFill>
          <a:ln>
            <a:noFill/>
          </a:ln>
        </p:spPr>
        <p:txBody>
          <a:bodyPr wrap="square" lIns="150000" tIns="100000" rIns="120000" bIns="6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X/XX/XX – X/XX/XX</a:t>
            </a:r>
          </a:p>
          <a:p>
            <a:pPr algn="l"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$29 CPM</a:t>
            </a:r>
          </a:p>
          <a:p>
            <a:pPr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XXX,XXX Imps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B8CCE0"/>
                </a:solidFill>
              </a:rPr>
              <a:t>Targeted to Sports Audiences in XXX DMA</a:t>
            </a:r>
          </a:p>
          <a:p>
            <a:pPr>
              <a:lnSpc>
                <a:spcPct val="115000"/>
              </a:lnSpc>
            </a:pPr>
            <a:endParaRPr lang="en-US" sz="850" dirty="0">
              <a:solidFill>
                <a:srgbClr val="B8CCE0"/>
              </a:solidFill>
            </a:endParaRP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Imps: XXX,XXX</a:t>
            </a: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Investment: $XX,XXX</a:t>
            </a: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</a:t>
            </a:r>
            <a:r>
              <a:rPr lang="en-US" sz="1000" b="1" dirty="0" err="1">
                <a:solidFill>
                  <a:srgbClr val="7DD4FF"/>
                </a:solidFill>
              </a:rPr>
              <a:t>eCPM</a:t>
            </a:r>
            <a:r>
              <a:rPr lang="en-US" sz="1000" b="1" dirty="0">
                <a:solidFill>
                  <a:srgbClr val="7DD4FF"/>
                </a:solidFill>
              </a:rPr>
              <a:t>: $XX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DB31403B-FC29-81FD-1DCC-70E1738E9F57}"/>
              </a:ext>
            </a:extLst>
          </p:cNvPr>
          <p:cNvSpPr txBox="1">
            <a:spLocks/>
          </p:cNvSpPr>
          <p:nvPr/>
        </p:nvSpPr>
        <p:spPr>
          <a:xfrm>
            <a:off x="305402" y="2521070"/>
            <a:ext cx="2469604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pPr lvl="0">
              <a:defRPr/>
            </a:pPr>
            <a:r>
              <a:rPr lang="en-US" b="1" dirty="0">
                <a:solidFill>
                  <a:srgbClr val="D5D5D5"/>
                </a:solidFill>
                <a:latin typeface="Spectrum Sans Bold" panose="02110004020202020204"/>
              </a:rPr>
              <a:t>[Client Name]</a:t>
            </a:r>
          </a:p>
        </p:txBody>
      </p:sp>
    </p:spTree>
    <p:extLst>
      <p:ext uri="{BB962C8B-B14F-4D97-AF65-F5344CB8AC3E}">
        <p14:creationId xmlns:p14="http://schemas.microsoft.com/office/powerpoint/2010/main" val="3379037799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2.xml><?xml version="1.0" encoding="utf-8"?>
<a:theme xmlns:a="http://schemas.openxmlformats.org/drawingml/2006/main" name="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3.xml><?xml version="1.0" encoding="utf-8"?>
<a:theme xmlns:a="http://schemas.openxmlformats.org/drawingml/2006/main" name="1_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4.xml><?xml version="1.0" encoding="utf-8"?>
<a:theme xmlns:a="http://schemas.openxmlformats.org/drawingml/2006/main" name="1_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SR Document" ma:contentTypeID="0x0101004498840A4C114E46B8C4ECA211F55C5E00E2F44E5BC511894F8C93D74DA4B18249" ma:contentTypeVersion="44" ma:contentTypeDescription="" ma:contentTypeScope="" ma:versionID="fd16523f0abdae274e19cd71c6bde544">
  <xsd:schema xmlns:xsd="http://www.w3.org/2001/XMLSchema" xmlns:xs="http://www.w3.org/2001/XMLSchema" xmlns:p="http://schemas.microsoft.com/office/2006/metadata/properties" xmlns:ns2="a0547eee-aaa8-4b90-a1b8-3c540830c94d" xmlns:ns3="d9991e3c-4de5-4956-8de4-c71c59ac3722" targetNamespace="http://schemas.microsoft.com/office/2006/metadata/properties" ma:root="true" ma:fieldsID="134456c98559cfd421d305b01f0f49fc" ns2:_="" ns3:_="">
    <xsd:import namespace="a0547eee-aaa8-4b90-a1b8-3c540830c94d"/>
    <xsd:import namespace="d9991e3c-4de5-4956-8de4-c71c59ac3722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SROwner" minOccurs="0"/>
                <xsd:element ref="ns2:SRThumbnail" minOccurs="0"/>
                <xsd:element ref="ns2:SRRenewal" minOccurs="0"/>
                <xsd:element ref="ns2:j54b65ba43ff43c48723fc8adc29d268" minOccurs="0"/>
                <xsd:element ref="ns2:TaxCatchAllLabel" minOccurs="0"/>
                <xsd:element ref="ns2:j7c24873d3bf4df793fceec9ac332839" minOccurs="0"/>
                <xsd:element ref="ns2:la4ae81035174b1fba751a07ca4d086b" minOccurs="0"/>
                <xsd:element ref="ns2:l420c45215364e2eb38c14ab041199ab" minOccurs="0"/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547eee-aaa8-4b90-a1b8-3c540830c94d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39f3f30-3b5f-4b47-89a8-2486f8c701eb}" ma:internalName="TaxCatchAll" ma:readOnly="false" ma:showField="CatchAllData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ROwner" ma:index="13" nillable="true" ma:displayName="Owner" ma:description="This column specifies the user who is responsible for a document or page. The selected user will be notified before the file expires and is responsible for renewing it as appropriate." ma:list="UserInfo" ma:SharePointGroup="0" ma:internalName="SR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RThumbnail" ma:index="15" nillable="true" ma:displayName="Thumbnail" ma:format="Hyperlink" ma:internalName="SRThumbnai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SRRenewal" ma:index="16" nillable="true" ma:displayName="Renewal" ma:internalName="SRRenewal" ma:readOnly="false">
      <xsd:simpleType>
        <xsd:restriction base="dms:Text">
          <xsd:maxLength value="255"/>
        </xsd:restriction>
      </xsd:simpleType>
    </xsd:element>
    <xsd:element name="j54b65ba43ff43c48723fc8adc29d268" ma:index="17" nillable="true" ma:taxonomy="true" ma:internalName="j54b65ba43ff43c48723fc8adc29d268" ma:taxonomyFieldName="SRCategory" ma:displayName="Category" ma:readOnly="false" ma:fieldId="{354b65ba-43ff-43c4-8723-fc8adc29d268}" ma:taxonomyMulti="true" ma:sspId="600d62cf-6361-4bdf-91d1-d22d0aee0dbf" ma:termSetId="bc56aafe-62f9-4582-a2fb-5380dde5b22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18" nillable="true" ma:displayName="Taxonomy Catch All Column1" ma:hidden="true" ma:list="{439f3f30-3b5f-4b47-89a8-2486f8c701eb}" ma:internalName="TaxCatchAllLabel" ma:readOnly="true" ma:showField="CatchAllDataLabel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j7c24873d3bf4df793fceec9ac332839" ma:index="19" nillable="true" ma:taxonomy="true" ma:internalName="j7c24873d3bf4df793fceec9ac332839" ma:taxonomyFieldName="SRDepartment" ma:displayName="Department" ma:readOnly="false" ma:fieldId="{37c24873-d3bf-4df7-93fc-eec9ac332839}" ma:sspId="600d62cf-6361-4bdf-91d1-d22d0aee0dbf" ma:termSetId="2f801aac-3610-4b87-8889-e6ded790279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a4ae81035174b1fba751a07ca4d086b" ma:index="20" nillable="true" ma:taxonomy="true" ma:internalName="la4ae81035174b1fba751a07ca4d086b" ma:taxonomyFieldName="SRRegion" ma:displayName="Region" ma:readOnly="false" ma:fieldId="{5a4ae810-3517-4b1f-ba75-1a07ca4d086b}" ma:taxonomyMulti="true" ma:sspId="600d62cf-6361-4bdf-91d1-d22d0aee0dbf" ma:termSetId="3679b8ac-9e6f-4522-94aa-37866bf4f82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420c45215364e2eb38c14ab041199ab" ma:index="21" nillable="true" ma:taxonomy="true" ma:internalName="l420c45215364e2eb38c14ab041199ab" ma:taxonomyFieldName="SRContentType" ma:displayName="Content Type" ma:readOnly="false" ma:fieldId="{5420c452-1536-4e2e-b38c-14ab041199ab}" ma:sspId="600d62cf-6361-4bdf-91d1-d22d0aee0dbf" ma:termSetId="b36241c5-e920-49a3-80ea-985b47ef557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22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2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4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991e3c-4de5-4956-8de4-c71c59ac37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7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547eee-aaa8-4b90-a1b8-3c540830c94d" xsi:nil="true"/>
    <j54b65ba43ff43c48723fc8adc29d268 xmlns="a0547eee-aaa8-4b90-a1b8-3c540830c94d">
      <Terms xmlns="http://schemas.microsoft.com/office/infopath/2007/PartnerControls"/>
    </j54b65ba43ff43c48723fc8adc29d268>
    <l420c45215364e2eb38c14ab041199ab xmlns="a0547eee-aaa8-4b90-a1b8-3c540830c94d">
      <Terms xmlns="http://schemas.microsoft.com/office/infopath/2007/PartnerControls"/>
    </l420c45215364e2eb38c14ab041199ab>
    <la4ae81035174b1fba751a07ca4d086b xmlns="a0547eee-aaa8-4b90-a1b8-3c540830c94d">
      <Terms xmlns="http://schemas.microsoft.com/office/infopath/2007/PartnerControls"/>
    </la4ae81035174b1fba751a07ca4d086b>
    <_dlc_DocIdPersistId xmlns="a0547eee-aaa8-4b90-a1b8-3c540830c94d" xsi:nil="true"/>
    <SROwner xmlns="a0547eee-aaa8-4b90-a1b8-3c540830c94d">
      <UserInfo>
        <DisplayName/>
        <AccountId xsi:nil="true"/>
        <AccountType/>
      </UserInfo>
    </SROwner>
    <SRRenewal xmlns="a0547eee-aaa8-4b90-a1b8-3c540830c94d" xsi:nil="true"/>
    <j7c24873d3bf4df793fceec9ac332839 xmlns="a0547eee-aaa8-4b90-a1b8-3c540830c94d">
      <Terms xmlns="http://schemas.microsoft.com/office/infopath/2007/PartnerControls"/>
    </j7c24873d3bf4df793fceec9ac332839>
    <SRThumbnail xmlns="a0547eee-aaa8-4b90-a1b8-3c540830c94d">
      <Url xsi:nil="true"/>
      <Description xsi:nil="true"/>
    </SRThumbnail>
  </documentManagement>
</p:properties>
</file>

<file path=customXml/item4.xml><?xml version="1.0" encoding="utf-8"?>
<?mso-contentType ?>
<spe:Receivers xmlns:spe="http://schemas.microsoft.com/sharepoint/events"/>
</file>

<file path=customXml/itemProps1.xml><?xml version="1.0" encoding="utf-8"?>
<ds:datastoreItem xmlns:ds="http://schemas.openxmlformats.org/officeDocument/2006/customXml" ds:itemID="{EC52D6D2-615C-42E8-A3C5-D765C32853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2B3C130-8141-496F-8BE5-9CF1D14628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547eee-aaa8-4b90-a1b8-3c540830c94d"/>
    <ds:schemaRef ds:uri="d9991e3c-4de5-4956-8de4-c71c59ac37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A687C3-2BAD-4AD7-9EA3-756AF9ACB115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0212352b-2682-46bb-beb5-9da4ea9226e1"/>
    <ds:schemaRef ds:uri="7a70ef4c-5183-4fb2-bf69-1cc1bbd63d67"/>
    <ds:schemaRef ds:uri="http://schemas.openxmlformats.org/package/2006/metadata/core-properties"/>
    <ds:schemaRef ds:uri="http://purl.org/dc/dcmitype/"/>
    <ds:schemaRef ds:uri="a0547eee-aaa8-4b90-a1b8-3c540830c94d"/>
  </ds:schemaRefs>
</ds:datastoreItem>
</file>

<file path=customXml/itemProps4.xml><?xml version="1.0" encoding="utf-8"?>
<ds:datastoreItem xmlns:ds="http://schemas.openxmlformats.org/officeDocument/2006/customXml" ds:itemID="{020E764C-296D-40F1-B4A5-CAEC833EF05C}">
  <ds:schemaRefs>
    <ds:schemaRef ds:uri="http://schemas.microsoft.com/sharepoint/events"/>
  </ds:schemaRefs>
</ds:datastoreItem>
</file>

<file path=docMetadata/LabelInfo.xml><?xml version="1.0" encoding="utf-8"?>
<clbl:labelList xmlns:clbl="http://schemas.microsoft.com/office/2020/mipLabelMetadata">
  <clbl:label id="{9082f31f-07f9-4a11-acf8-7575926c312d}" enabled="1" method="Privileged" siteId="{c921337c-1160-432a-b079-805f591128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Spectrum Reach Template (Dark)</Template>
  <TotalTime>4888</TotalTime>
  <Words>207</Words>
  <Application>Microsoft Office PowerPoint</Application>
  <PresentationFormat>Widescreen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Aptos</vt:lpstr>
      <vt:lpstr>Arial</vt:lpstr>
      <vt:lpstr>Calibri</vt:lpstr>
      <vt:lpstr>Spectrum Sans</vt:lpstr>
      <vt:lpstr>Spectrum Sans Bold</vt:lpstr>
      <vt:lpstr>Spectrum Sans Book</vt:lpstr>
      <vt:lpstr>Spectrum Reach Template (Dark)</vt:lpstr>
      <vt:lpstr>Spectrum Reach Template (Light)</vt:lpstr>
      <vt:lpstr>1_Spectrum Reach Template (Dark)</vt:lpstr>
      <vt:lpstr>1_Spectrum Reach Template (Light)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HPO</dc:title>
  <dc:creator>Brent Carter</dc:creator>
  <cp:lastModifiedBy>AI-Operator</cp:lastModifiedBy>
  <cp:revision>68</cp:revision>
  <dcterms:created xsi:type="dcterms:W3CDTF">2025-08-18T20:56:00Z</dcterms:created>
  <dcterms:modified xsi:type="dcterms:W3CDTF">2026-03-24T19:45:20Z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0x0101004498840A4C114E46B8C4ECA211F55C5E00E2F44E5BC511894F8C93D74DA4B18249</vt:lpwstr>
  </property>
  <property fmtid="{D5CDD505-2E9C-101B-9397-08002B2CF9AE}" pid="3" name="MediaServiceImageTags">
    <vt:lpwstr/>
  </property>
</Properties>
</file>