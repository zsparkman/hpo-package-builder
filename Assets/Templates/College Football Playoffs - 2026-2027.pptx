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9" r:id="rId5"/>
    <p:sldMasterId id="2147483899" r:id="rId6"/>
    <p:sldMasterId id="2147483928" r:id="rId7"/>
    <p:sldMasterId id="2147483930" r:id="rId8"/>
  </p:sldMasterIdLst>
  <p:notesMasterIdLst>
    <p:notesMasterId r:id="rId10"/>
  </p:notesMasterIdLst>
  <p:handoutMasterIdLst>
    <p:handoutMasterId r:id="rId11"/>
  </p:handoutMasterIdLst>
  <p:sldIdLst>
    <p:sldId id="214747323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968" userDrawn="1">
          <p15:clr>
            <a:srgbClr val="A4A3A4"/>
          </p15:clr>
        </p15:guide>
        <p15:guide id="4" pos="35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859B"/>
    <a:srgbClr val="EEEEEE"/>
    <a:srgbClr val="F2F2F2"/>
    <a:srgbClr val="627C8F"/>
    <a:srgbClr val="546A7A"/>
    <a:srgbClr val="445663"/>
    <a:srgbClr val="003053"/>
    <a:srgbClr val="003760"/>
    <a:srgbClr val="002E50"/>
    <a:srgbClr val="001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ADB969-381B-B706-7ABC-F5B98CD099A2}" v="17" dt="2026-03-11T03:27:16.630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 autoAdjust="0"/>
    <p:restoredTop sz="94610"/>
  </p:normalViewPr>
  <p:slideViewPr>
    <p:cSldViewPr snapToGrid="0">
      <p:cViewPr varScale="1">
        <p:scale>
          <a:sx n="59" d="100"/>
          <a:sy n="59" d="100"/>
        </p:scale>
        <p:origin x="1256" y="52"/>
      </p:cViewPr>
      <p:guideLst>
        <p:guide orient="horz" pos="1968"/>
        <p:guide pos="35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4112" y="14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arkman, Zach E" userId="S::zach.sparkman@charter.com::a0fa8067-9197-4cb4-b572-088af4ff6e51" providerId="AD" clId="Web-{D8ADB969-381B-B706-7ABC-F5B98CD099A2}"/>
    <pc:docChg chg="delSld modSld">
      <pc:chgData name="Sparkman, Zach E" userId="S::zach.sparkman@charter.com::a0fa8067-9197-4cb4-b572-088af4ff6e51" providerId="AD" clId="Web-{D8ADB969-381B-B706-7ABC-F5B98CD099A2}" dt="2026-03-11T03:27:16.630" v="16" actId="20577"/>
      <pc:docMkLst>
        <pc:docMk/>
      </pc:docMkLst>
      <pc:sldChg chg="del">
        <pc:chgData name="Sparkman, Zach E" userId="S::zach.sparkman@charter.com::a0fa8067-9197-4cb4-b572-088af4ff6e51" providerId="AD" clId="Web-{D8ADB969-381B-B706-7ABC-F5B98CD099A2}" dt="2026-03-11T03:26:44.238" v="0"/>
        <pc:sldMkLst>
          <pc:docMk/>
          <pc:sldMk cId="4190605960" sldId="2147473209"/>
        </pc:sldMkLst>
      </pc:sldChg>
      <pc:sldChg chg="del">
        <pc:chgData name="Sparkman, Zach E" userId="S::zach.sparkman@charter.com::a0fa8067-9197-4cb4-b572-088af4ff6e51" providerId="AD" clId="Web-{D8ADB969-381B-B706-7ABC-F5B98CD099A2}" dt="2026-03-11T03:26:45.379" v="1"/>
        <pc:sldMkLst>
          <pc:docMk/>
          <pc:sldMk cId="2270644601" sldId="2147473221"/>
        </pc:sldMkLst>
      </pc:sldChg>
      <pc:sldChg chg="modSp">
        <pc:chgData name="Sparkman, Zach E" userId="S::zach.sparkman@charter.com::a0fa8067-9197-4cb4-b572-088af4ff6e51" providerId="AD" clId="Web-{D8ADB969-381B-B706-7ABC-F5B98CD099A2}" dt="2026-03-11T03:27:16.630" v="16" actId="20577"/>
        <pc:sldMkLst>
          <pc:docMk/>
          <pc:sldMk cId="1376735425" sldId="2147473237"/>
        </pc:sldMkLst>
        <pc:spChg chg="mod">
          <ac:chgData name="Sparkman, Zach E" userId="S::zach.sparkman@charter.com::a0fa8067-9197-4cb4-b572-088af4ff6e51" providerId="AD" clId="Web-{D8ADB969-381B-B706-7ABC-F5B98CD099A2}" dt="2026-03-11T03:27:16.630" v="16" actId="20577"/>
          <ac:spMkLst>
            <pc:docMk/>
            <pc:sldMk cId="1376735425" sldId="2147473237"/>
            <ac:spMk id="9" creationId="{60AF21DB-A64C-DFA2-FB0A-AB5A4758B32B}"/>
          </ac:spMkLst>
        </pc:spChg>
        <pc:spChg chg="mod">
          <ac:chgData name="Sparkman, Zach E" userId="S::zach.sparkman@charter.com::a0fa8067-9197-4cb4-b572-088af4ff6e51" providerId="AD" clId="Web-{D8ADB969-381B-B706-7ABC-F5B98CD099A2}" dt="2026-03-11T03:26:55.035" v="15" actId="20577"/>
          <ac:spMkLst>
            <pc:docMk/>
            <pc:sldMk cId="1376735425" sldId="2147473237"/>
            <ac:spMk id="34" creationId="{AD48F088-A42C-64A9-8DC9-67654321FA3F}"/>
          </ac:spMkLst>
        </pc:spChg>
      </pc:sldChg>
      <pc:sldChg chg="del">
        <pc:chgData name="Sparkman, Zach E" userId="S::zach.sparkman@charter.com::a0fa8067-9197-4cb4-b572-088af4ff6e51" providerId="AD" clId="Web-{D8ADB969-381B-B706-7ABC-F5B98CD099A2}" dt="2026-03-11T03:26:46.410" v="2"/>
        <pc:sldMkLst>
          <pc:docMk/>
          <pc:sldMk cId="1781513751" sldId="214747323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BECD9-9A0D-FB46-26DC-1E4169CF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88310-5E3D-00B7-3F50-68DB60336D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EEBFE-8A87-DC4B-83D1-64E9257E4E50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8124D-BB00-0A8E-96BF-14D7E56F4F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7B043-95BE-1693-E733-F8CEF139EB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66071-78C0-6649-9C9A-D7E8960ECB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61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A9494-7432-4242-91E8-82B2FB80EE9E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81830-4BF3-E441-835E-D441248A5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9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62593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1463094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228555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2323666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15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8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80" userDrawn="1">
          <p15:clr>
            <a:srgbClr val="F26B43"/>
          </p15:clr>
        </p15:guide>
        <p15:guide id="4" pos="352" userDrawn="1">
          <p15:clr>
            <a:srgbClr val="F26B43"/>
          </p15:clr>
        </p15:guide>
        <p15:guide id="5" pos="7328" userDrawn="1">
          <p15:clr>
            <a:srgbClr val="F26B43"/>
          </p15:clr>
        </p15:guide>
        <p15:guide id="6" orient="horz" pos="824" userDrawn="1">
          <p15:clr>
            <a:srgbClr val="F26B43"/>
          </p15:clr>
        </p15:guide>
        <p15:guide id="7" orient="horz" pos="912" userDrawn="1">
          <p15:clr>
            <a:srgbClr val="F26B43"/>
          </p15:clr>
        </p15:guide>
        <p15:guide id="8" orient="horz" pos="3952" userDrawn="1">
          <p15:clr>
            <a:srgbClr val="F26B43"/>
          </p15:clr>
        </p15:guide>
        <p15:guide id="9" orient="horz" pos="3864" userDrawn="1">
          <p15:clr>
            <a:srgbClr val="F26B43"/>
          </p15:clr>
        </p15:guide>
        <p15:guide id="10" orient="horz" pos="41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905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1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C65CB-493B-F1C3-9FA9-476946973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973DA346-E16E-DF2E-7CE9-029309FE9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84" y="329095"/>
            <a:ext cx="3529584" cy="1877731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DF6DC06A-6A3D-51E3-395A-8F81271FA434}"/>
              </a:ext>
            </a:extLst>
          </p:cNvPr>
          <p:cNvSpPr txBox="1">
            <a:spLocks/>
          </p:cNvSpPr>
          <p:nvPr/>
        </p:nvSpPr>
        <p:spPr>
          <a:xfrm>
            <a:off x="305401" y="6145461"/>
            <a:ext cx="10297915" cy="64008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Open Sans" panose="020B0606030504020204" pitchFamily="34" charset="0"/>
                <a:cs typeface="Open Sans" panose="020B0606030504020204" pitchFamily="34" charset="0"/>
              </a:rPr>
              <a:t>Schedule subject to change. Network insertion may vary by market and is based on inventory availability.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0AF21DB-A64C-DFA2-FB0A-AB5A4758B32B}"/>
              </a:ext>
            </a:extLst>
          </p:cNvPr>
          <p:cNvSpPr txBox="1">
            <a:spLocks/>
          </p:cNvSpPr>
          <p:nvPr/>
        </p:nvSpPr>
        <p:spPr>
          <a:xfrm>
            <a:off x="3066473" y="2520413"/>
            <a:ext cx="881941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400" b="0" i="0" u="none" strike="noStrike" kern="1200" cap="none" spc="0" normalizeH="0" baseline="0" noProof="0" dirty="0">
              <a:ln>
                <a:noFill/>
              </a:ln>
              <a:solidFill>
                <a:srgbClr val="D5D5D5"/>
              </a:solidFill>
              <a:effectLst/>
              <a:uLnTx/>
              <a:uFillTx/>
              <a:latin typeface="Spectrum Sans Bold" panose="02110004020202020204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110CAE0-1DF7-CAA0-CFB2-805BC31E2ECA}"/>
              </a:ext>
            </a:extLst>
          </p:cNvPr>
          <p:cNvGrpSpPr/>
          <p:nvPr/>
        </p:nvGrpSpPr>
        <p:grpSpPr>
          <a:xfrm>
            <a:off x="8550023" y="778760"/>
            <a:ext cx="3065947" cy="1399173"/>
            <a:chOff x="4827295" y="3492353"/>
            <a:chExt cx="3065947" cy="139917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F0E6F76-BAA4-FDCD-8A8D-A71AD771E9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67841" y="3924708"/>
              <a:ext cx="687106" cy="548640"/>
            </a:xfrm>
            <a:prstGeom prst="rect">
              <a:avLst/>
            </a:prstGeom>
          </p:spPr>
        </p:pic>
        <p:pic>
          <p:nvPicPr>
            <p:cNvPr id="7" name="Picture 6" descr="A black and white logo&#10;&#10;Description automatically generated">
              <a:extLst>
                <a:ext uri="{FF2B5EF4-FFF2-40B4-BE49-F238E27FC236}">
                  <a16:creationId xmlns:a16="http://schemas.microsoft.com/office/drawing/2014/main" id="{9CC78E70-882E-B735-7C04-2B2257321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58281" y="3952934"/>
              <a:ext cx="548640" cy="43891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176A134-4D93-EC3A-4D95-2B0AF943F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1902" y="3989905"/>
              <a:ext cx="365760" cy="36576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3" name="Picture 12" descr="A white letters on a black background&#10;&#10;Description automatically generated">
              <a:extLst>
                <a:ext uri="{FF2B5EF4-FFF2-40B4-BE49-F238E27FC236}">
                  <a16:creationId xmlns:a16="http://schemas.microsoft.com/office/drawing/2014/main" id="{08B6B64B-7C20-354B-11B6-F1531F249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21742" y="3492353"/>
              <a:ext cx="571500" cy="4572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80B6E49-59E7-E9B1-F276-B5EC0D825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61722" y="4308899"/>
              <a:ext cx="731520" cy="582627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4B0C955-3832-8330-E325-210C5C7052A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81619" y="4407979"/>
              <a:ext cx="548640" cy="436970"/>
            </a:xfrm>
            <a:prstGeom prst="rect">
              <a:avLst/>
            </a:prstGeom>
          </p:spPr>
        </p:pic>
        <p:pic>
          <p:nvPicPr>
            <p:cNvPr id="26" name="Picture 25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5B10D17D-0503-539A-5FE9-C759E22D6A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30095" b="31753"/>
            <a:stretch/>
          </p:blipFill>
          <p:spPr>
            <a:xfrm>
              <a:off x="4883347" y="3608829"/>
              <a:ext cx="822960" cy="251180"/>
            </a:xfrm>
            <a:prstGeom prst="rect">
              <a:avLst/>
            </a:prstGeom>
          </p:spPr>
        </p:pic>
        <p:pic>
          <p:nvPicPr>
            <p:cNvPr id="27" name="Picture 26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5D832FA1-9672-F98F-C4DB-CB6840AF6D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t="35324" b="36659"/>
            <a:stretch/>
          </p:blipFill>
          <p:spPr>
            <a:xfrm>
              <a:off x="5786656" y="3631942"/>
              <a:ext cx="914400" cy="204954"/>
            </a:xfrm>
            <a:prstGeom prst="rect">
              <a:avLst/>
            </a:prstGeom>
          </p:spPr>
        </p:pic>
        <p:pic>
          <p:nvPicPr>
            <p:cNvPr id="28" name="Picture 27" descr="A red and white logo&#10;&#10;Description automatically generated">
              <a:extLst>
                <a:ext uri="{FF2B5EF4-FFF2-40B4-BE49-F238E27FC236}">
                  <a16:creationId xmlns:a16="http://schemas.microsoft.com/office/drawing/2014/main" id="{D3FC4C51-5C60-0744-DD41-3B31CD7C4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866887" y="3989115"/>
              <a:ext cx="365760" cy="366550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13F52A81-46FA-70EB-C411-5977204D5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27295" y="4331040"/>
              <a:ext cx="682811" cy="548688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E0E4F03-CF45-CAED-50FE-DD677E1AA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784699" y="3557315"/>
              <a:ext cx="457200" cy="367393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C7D8AE0-29CB-441F-A3BD-5F48AF6AB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351721" y="4342489"/>
              <a:ext cx="640080" cy="514351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7B5DA19-22B0-27CE-3459-B8DC489DB0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831220" y="3943790"/>
              <a:ext cx="571500" cy="457200"/>
            </a:xfrm>
            <a:prstGeom prst="rect">
              <a:avLst/>
            </a:prstGeom>
          </p:spPr>
        </p:pic>
      </p:grp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AD48F088-A42C-64A9-8DC9-67654321FA3F}"/>
              </a:ext>
            </a:extLst>
          </p:cNvPr>
          <p:cNvSpPr txBox="1">
            <a:spLocks/>
          </p:cNvSpPr>
          <p:nvPr/>
        </p:nvSpPr>
        <p:spPr>
          <a:xfrm>
            <a:off x="308484" y="338889"/>
            <a:ext cx="3529584" cy="1856232"/>
          </a:xfrm>
          <a:prstGeom prst="roundRect">
            <a:avLst>
              <a:gd name="adj" fmla="val 5698"/>
            </a:avLst>
          </a:prstGeom>
          <a:gradFill>
            <a:gsLst>
              <a:gs pos="0">
                <a:schemeClr val="accent1">
                  <a:lumMod val="100000"/>
                  <a:alpha val="60000"/>
                </a:schemeClr>
              </a:gs>
              <a:gs pos="100000">
                <a:schemeClr val="accent2">
                  <a:lumMod val="100000"/>
                  <a:alpha val="60000"/>
                </a:schemeClr>
              </a:gs>
            </a:gsLst>
            <a:lin ang="2700000" scaled="0"/>
          </a:gra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182880" tIns="91440" rIns="182880" bIns="9144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4000" b="1">
                <a:solidFill>
                  <a:srgbClr val="D5D5D5"/>
                </a:solidFill>
                <a:effectLst>
                  <a:outerShdw blurRad="63500" dist="38100" dir="2700000" algn="tl">
                    <a:srgbClr val="000000">
                      <a:alpha val="40000"/>
                    </a:srgbClr>
                  </a:outerShdw>
                </a:effectLst>
                <a:latin typeface="Spectrum Sans Bold" panose="02110004020202020204"/>
                <a:cs typeface="Spectrum Sans Book" panose="020B0402020503020304" pitchFamily="34" charset="0"/>
              </a:rPr>
              <a:t>College Football Playoffs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D5D5D5"/>
              </a:solidFill>
              <a:effectLst>
                <a:outerShdw blurRad="63500" dist="38100" dir="2700000" algn="tl">
                  <a:srgbClr val="000000">
                    <a:alpha val="40000"/>
                  </a:srgbClr>
                </a:outerShdw>
              </a:effectLst>
              <a:uLnTx/>
              <a:uFillTx/>
              <a:latin typeface="Spectrum Sans Bold" panose="02110004020202020204"/>
              <a:ea typeface="+mn-ea"/>
              <a:cs typeface="Spectrum Sans Book" panose="020B04020205030203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083F51-DB56-20F5-FB44-CE20F223D140}"/>
              </a:ext>
            </a:extLst>
          </p:cNvPr>
          <p:cNvSpPr/>
          <p:nvPr/>
        </p:nvSpPr>
        <p:spPr>
          <a:xfrm>
            <a:off x="12353407" y="416806"/>
            <a:ext cx="2057240" cy="6024388"/>
          </a:xfrm>
          <a:prstGeom prst="rect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tIns="144000" rIns="144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271EB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Customizable Package Slide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Many of these sections are modular. Please use this as your canvas to build a campaign package to fit your market or client needs, while maintaining the brand integrity and aesthetics.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Change Title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Key Dates.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Network Logos.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Your Client Goals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(this section can be expanded or moved).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Campaign Package Details and/or Summary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for “In-Telecast”, “Multiscreen”, “Traditional TV”, or other…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Don’t need so much space for your package?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Check out the other Template on MSR’s Programming Page.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Remove Client Signature Line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unnecessary).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Quality Control: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From a brand perspective, please keep font, font size, font colors, aesthetics, and spacing consistent with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the rest of the slide.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Delete this Box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before presenting or sending to client. Best practice would be to create as a PDF instead of sending as a PPT.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2139"/>
              </a:solidFill>
              <a:effectLst/>
              <a:uLnTx/>
              <a:uFillTx/>
              <a:latin typeface="Spectrum Sans Book" panose="02110004020202020204"/>
              <a:ea typeface="Raleway" charset="0"/>
              <a:cs typeface="Raleway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09A52E-F86D-C4C8-B4F4-899756F421A6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7677532" y="6491338"/>
            <a:ext cx="2729478" cy="207565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8EC2504-B991-614E-4006-F0C72D96E1C3}"/>
              </a:ext>
            </a:extLst>
          </p:cNvPr>
          <p:cNvSpPr txBox="1">
            <a:spLocks/>
          </p:cNvSpPr>
          <p:nvPr/>
        </p:nvSpPr>
        <p:spPr>
          <a:xfrm>
            <a:off x="4303224" y="694390"/>
            <a:ext cx="3474720" cy="1463040"/>
          </a:xfrm>
          <a:prstGeom prst="roundRect">
            <a:avLst>
              <a:gd name="adj" fmla="val 0"/>
            </a:avLst>
          </a:prstGeom>
          <a:noFill/>
          <a:ln w="19050" cap="flat" cmpd="sng" algn="ctr">
            <a:noFill/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228600" rIns="0" bIns="18288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08/29-11/28			Regular Season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12/04-12/05			Conference Championships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12/06/26						CFP Selection Show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12/15-01/02				Bowl Season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12/18-01/15				CFP Rd 1, Quarters, Semis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01/25/27						CFP Championship Game</a:t>
            </a:r>
          </a:p>
        </p:txBody>
      </p:sp>
    </p:spTree>
    <p:extLst>
      <p:ext uri="{BB962C8B-B14F-4D97-AF65-F5344CB8AC3E}">
        <p14:creationId xmlns:p14="http://schemas.microsoft.com/office/powerpoint/2010/main" val="137673542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2.xml><?xml version="1.0" encoding="utf-8"?>
<a:theme xmlns:a="http://schemas.openxmlformats.org/drawingml/2006/main" name="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3.xml><?xml version="1.0" encoding="utf-8"?>
<a:theme xmlns:a="http://schemas.openxmlformats.org/drawingml/2006/main" name="1_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4.xml><?xml version="1.0" encoding="utf-8"?>
<a:theme xmlns:a="http://schemas.openxmlformats.org/drawingml/2006/main" name="1_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547eee-aaa8-4b90-a1b8-3c540830c94d" xsi:nil="true"/>
    <j54b65ba43ff43c48723fc8adc29d268 xmlns="a0547eee-aaa8-4b90-a1b8-3c540830c94d">
      <Terms xmlns="http://schemas.microsoft.com/office/infopath/2007/PartnerControls"/>
    </j54b65ba43ff43c48723fc8adc29d268>
    <l420c45215364e2eb38c14ab041199ab xmlns="a0547eee-aaa8-4b90-a1b8-3c540830c94d">
      <Terms xmlns="http://schemas.microsoft.com/office/infopath/2007/PartnerControls"/>
    </l420c45215364e2eb38c14ab041199ab>
    <la4ae81035174b1fba751a07ca4d086b xmlns="a0547eee-aaa8-4b90-a1b8-3c540830c94d">
      <Terms xmlns="http://schemas.microsoft.com/office/infopath/2007/PartnerControls"/>
    </la4ae81035174b1fba751a07ca4d086b>
    <_dlc_DocIdPersistId xmlns="a0547eee-aaa8-4b90-a1b8-3c540830c94d" xsi:nil="true"/>
    <SROwner xmlns="a0547eee-aaa8-4b90-a1b8-3c540830c94d">
      <UserInfo>
        <DisplayName/>
        <AccountId xsi:nil="true"/>
        <AccountType/>
      </UserInfo>
    </SROwner>
    <SRRenewal xmlns="a0547eee-aaa8-4b90-a1b8-3c540830c94d" xsi:nil="true"/>
    <j7c24873d3bf4df793fceec9ac332839 xmlns="a0547eee-aaa8-4b90-a1b8-3c540830c94d">
      <Terms xmlns="http://schemas.microsoft.com/office/infopath/2007/PartnerControls"/>
    </j7c24873d3bf4df793fceec9ac332839>
    <SRThumbnail xmlns="a0547eee-aaa8-4b90-a1b8-3c540830c94d">
      <Url xsi:nil="true"/>
      <Description xsi:nil="true"/>
    </SRThumbnail>
  </documentManagement>
</p:properties>
</file>

<file path=customXml/item2.xml><?xml version="1.0" encoding="utf-8"?>
<?mso-contentType ?>
<FormTemplates xmlns="http://schemas.microsoft.com/sharepoint/v3/contenttype/forms"/>
</file>

<file path=customXml/item3.xml><?xml version="1.0" encoding="utf-8"?>
<?mso-contentType ?>
<spe:Receivers xmlns:spe="http://schemas.microsoft.com/sharepoint/events"/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SR Document" ma:contentTypeID="0x0101004498840A4C114E46B8C4ECA211F55C5E00E2F44E5BC511894F8C93D74DA4B18249" ma:contentTypeVersion="44" ma:contentTypeDescription="" ma:contentTypeScope="" ma:versionID="fd16523f0abdae274e19cd71c6bde544">
  <xsd:schema xmlns:xsd="http://www.w3.org/2001/XMLSchema" xmlns:xs="http://www.w3.org/2001/XMLSchema" xmlns:p="http://schemas.microsoft.com/office/2006/metadata/properties" xmlns:ns2="a0547eee-aaa8-4b90-a1b8-3c540830c94d" xmlns:ns3="d9991e3c-4de5-4956-8de4-c71c59ac3722" targetNamespace="http://schemas.microsoft.com/office/2006/metadata/properties" ma:root="true" ma:fieldsID="134456c98559cfd421d305b01f0f49fc" ns2:_="" ns3:_="">
    <xsd:import namespace="a0547eee-aaa8-4b90-a1b8-3c540830c94d"/>
    <xsd:import namespace="d9991e3c-4de5-4956-8de4-c71c59ac3722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SROwner" minOccurs="0"/>
                <xsd:element ref="ns2:SRThumbnail" minOccurs="0"/>
                <xsd:element ref="ns2:SRRenewal" minOccurs="0"/>
                <xsd:element ref="ns2:j54b65ba43ff43c48723fc8adc29d268" minOccurs="0"/>
                <xsd:element ref="ns2:TaxCatchAllLabel" minOccurs="0"/>
                <xsd:element ref="ns2:j7c24873d3bf4df793fceec9ac332839" minOccurs="0"/>
                <xsd:element ref="ns2:la4ae81035174b1fba751a07ca4d086b" minOccurs="0"/>
                <xsd:element ref="ns2:l420c45215364e2eb38c14ab041199ab" minOccurs="0"/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547eee-aaa8-4b90-a1b8-3c540830c94d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39f3f30-3b5f-4b47-89a8-2486f8c701eb}" ma:internalName="TaxCatchAll" ma:readOnly="false" ma:showField="CatchAllData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ROwner" ma:index="13" nillable="true" ma:displayName="Owner" ma:description="This column specifies the user who is responsible for a document or page. The selected user will be notified before the file expires and is responsible for renewing it as appropriate." ma:list="UserInfo" ma:SharePointGroup="0" ma:internalName="SR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RThumbnail" ma:index="15" nillable="true" ma:displayName="Thumbnail" ma:format="Hyperlink" ma:internalName="SRThumbnai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RRenewal" ma:index="16" nillable="true" ma:displayName="Renewal" ma:internalName="SRRenewal" ma:readOnly="false">
      <xsd:simpleType>
        <xsd:restriction base="dms:Text">
          <xsd:maxLength value="255"/>
        </xsd:restriction>
      </xsd:simpleType>
    </xsd:element>
    <xsd:element name="j54b65ba43ff43c48723fc8adc29d268" ma:index="17" nillable="true" ma:taxonomy="true" ma:internalName="j54b65ba43ff43c48723fc8adc29d268" ma:taxonomyFieldName="SRCategory" ma:displayName="Category" ma:readOnly="false" ma:fieldId="{354b65ba-43ff-43c4-8723-fc8adc29d268}" ma:taxonomyMulti="true" ma:sspId="600d62cf-6361-4bdf-91d1-d22d0aee0dbf" ma:termSetId="bc56aafe-62f9-4582-a2fb-5380dde5b22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18" nillable="true" ma:displayName="Taxonomy Catch All Column1" ma:hidden="true" ma:list="{439f3f30-3b5f-4b47-89a8-2486f8c701eb}" ma:internalName="TaxCatchAllLabel" ma:readOnly="true" ma:showField="CatchAllDataLabel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j7c24873d3bf4df793fceec9ac332839" ma:index="19" nillable="true" ma:taxonomy="true" ma:internalName="j7c24873d3bf4df793fceec9ac332839" ma:taxonomyFieldName="SRDepartment" ma:displayName="Department" ma:readOnly="false" ma:fieldId="{37c24873-d3bf-4df7-93fc-eec9ac332839}" ma:sspId="600d62cf-6361-4bdf-91d1-d22d0aee0dbf" ma:termSetId="2f801aac-3610-4b87-8889-e6ded790279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a4ae81035174b1fba751a07ca4d086b" ma:index="20" nillable="true" ma:taxonomy="true" ma:internalName="la4ae81035174b1fba751a07ca4d086b" ma:taxonomyFieldName="SRRegion" ma:displayName="Region" ma:readOnly="false" ma:fieldId="{5a4ae810-3517-4b1f-ba75-1a07ca4d086b}" ma:taxonomyMulti="true" ma:sspId="600d62cf-6361-4bdf-91d1-d22d0aee0dbf" ma:termSetId="3679b8ac-9e6f-4522-94aa-37866bf4f82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420c45215364e2eb38c14ab041199ab" ma:index="21" nillable="true" ma:taxonomy="true" ma:internalName="l420c45215364e2eb38c14ab041199ab" ma:taxonomyFieldName="SRContentType" ma:displayName="Content Type" ma:readOnly="false" ma:fieldId="{5420c452-1536-4e2e-b38c-14ab041199ab}" ma:sspId="600d62cf-6361-4bdf-91d1-d22d0aee0dbf" ma:termSetId="b36241c5-e920-49a3-80ea-985b47ef557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2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4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991e3c-4de5-4956-8de4-c71c59ac37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A687C3-2BAD-4AD7-9EA3-756AF9ACB115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0212352b-2682-46bb-beb5-9da4ea9226e1"/>
    <ds:schemaRef ds:uri="7a70ef4c-5183-4fb2-bf69-1cc1bbd63d67"/>
    <ds:schemaRef ds:uri="http://schemas.openxmlformats.org/package/2006/metadata/core-properties"/>
    <ds:schemaRef ds:uri="http://purl.org/dc/dcmitype/"/>
    <ds:schemaRef ds:uri="a0547eee-aaa8-4b90-a1b8-3c540830c94d"/>
  </ds:schemaRefs>
</ds:datastoreItem>
</file>

<file path=customXml/itemProps2.xml><?xml version="1.0" encoding="utf-8"?>
<ds:datastoreItem xmlns:ds="http://schemas.openxmlformats.org/officeDocument/2006/customXml" ds:itemID="{D113F35C-B86F-4C6E-84FF-BBE704F4B97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DB2482-0EA9-4A0B-A2C9-105FE3D4FCE0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91AEB1DE-B305-4DF0-BE3B-EE9FE21143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547eee-aaa8-4b90-a1b8-3c540830c94d"/>
    <ds:schemaRef ds:uri="d9991e3c-4de5-4956-8de4-c71c59ac37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9082f31f-07f9-4a11-acf8-7575926c312d}" enabled="1" method="Privileged" siteId="{c921337c-1160-432a-b079-805f591128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Spectrum Reach Template (Dark)</Template>
  <TotalTime>2064</TotalTime>
  <Words>1038</Words>
  <Application>Microsoft Office PowerPoint</Application>
  <PresentationFormat>Widescreen</PresentationFormat>
  <Paragraphs>86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Spectrum Reach Template (Dark)</vt:lpstr>
      <vt:lpstr>Spectrum Reach Template (Light)</vt:lpstr>
      <vt:lpstr>1_Spectrum Reach Template (Dark)</vt:lpstr>
      <vt:lpstr>1_Spectrum Reach Template (Light)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HPO</dc:title>
  <dc:creator>Brent Carter</dc:creator>
  <cp:lastModifiedBy>Carter, Brent D</cp:lastModifiedBy>
  <cp:revision>62</cp:revision>
  <dcterms:created xsi:type="dcterms:W3CDTF">2025-08-18T20:56:00Z</dcterms:created>
  <dcterms:modified xsi:type="dcterms:W3CDTF">2026-03-11T03:27:17Z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0x0101004498840A4C114E46B8C4ECA211F55C5E00E2F44E5BC511894F8C93D74DA4B18249</vt:lpwstr>
  </property>
  <property fmtid="{D5CDD505-2E9C-101B-9397-08002B2CF9AE}" pid="3" name="MediaServiceImageTags">
    <vt:lpwstr/>
  </property>
</Properties>
</file>